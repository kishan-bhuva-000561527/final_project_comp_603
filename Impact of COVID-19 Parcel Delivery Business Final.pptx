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8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6" r:id="rId14"/>
    <p:sldId id="267" r:id="rId15"/>
    <p:sldId id="268" r:id="rId16"/>
    <p:sldId id="269" r:id="rId17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9A8B"/>
    <a:srgbClr val="1E5155"/>
    <a:srgbClr val="1A2F50"/>
    <a:srgbClr val="9B7EC8"/>
    <a:srgbClr val="4D8280"/>
    <a:srgbClr val="6BA3D6"/>
    <a:srgbClr val="8DA4BF"/>
    <a:srgbClr val="333D49"/>
    <a:srgbClr val="FFD930"/>
    <a:srgbClr val="B3B3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B760E3-747D-7BB2-1B7D-76A7F0AEE355}" v="381" dt="2026-04-22T21:19:41.449"/>
    <p1510:client id="{9096ED6B-55E1-41F6-B164-CCC00EA04C43}" v="797" dt="2026-04-22T21:24:28.2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22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8266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0AD16-A625-7CCA-8120-18E6231AE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A665C0-D5DE-05BD-5700-1D11F1698C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2BE18B-0F24-9439-E950-D384757BFF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775438-6ED9-49F2-1F9C-435A9D7C8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302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085850"/>
            <a:ext cx="6619244" cy="2497186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216" y="3583035"/>
            <a:ext cx="6619244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782576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36234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2146300"/>
            <a:ext cx="6619243" cy="143673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21913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485" y="1545432"/>
            <a:ext cx="3297254" cy="3146822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0870" y="1542069"/>
            <a:ext cx="3297256" cy="315018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48541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5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485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0872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0872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26274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171176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89779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1085850"/>
            <a:ext cx="2550798" cy="1085850"/>
          </a:xfrm>
        </p:spPr>
        <p:txBody>
          <a:bodyPr anchor="b"/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8462" y="1085850"/>
            <a:ext cx="3896998" cy="3429000"/>
          </a:xfrm>
        </p:spPr>
        <p:txBody>
          <a:bodyPr anchor="ctr"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5" y="2346961"/>
            <a:ext cx="2550797" cy="2171699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595511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430" y="1390644"/>
            <a:ext cx="3819680" cy="1181106"/>
          </a:xfrm>
        </p:spPr>
        <p:txBody>
          <a:bodyPr anchor="b">
            <a:normAutofit/>
          </a:bodyPr>
          <a:lstStyle>
            <a:lvl1pPr algn="l">
              <a:defRPr sz="27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2160" y="857250"/>
            <a:ext cx="2400300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3813734" cy="1028700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91083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3600440"/>
            <a:ext cx="6619243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216" y="514350"/>
            <a:ext cx="6619244" cy="27305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7" y="4025494"/>
            <a:ext cx="6619242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083882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085850"/>
            <a:ext cx="6619244" cy="14859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6619244" cy="177165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094838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101" y="1085850"/>
            <a:ext cx="5999486" cy="1742531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7800" y="2828380"/>
            <a:ext cx="5459737" cy="256631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05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3262993"/>
            <a:ext cx="6619244" cy="125730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73721" y="728440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7868" y="1960341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1865416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2343151"/>
            <a:ext cx="6619245" cy="123988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31111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710" y="1485900"/>
            <a:ext cx="221015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347" y="2000250"/>
            <a:ext cx="2195513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2745" y="1485900"/>
            <a:ext cx="220218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4829" y="2000250"/>
            <a:ext cx="2210096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1485900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3525" y="2000250"/>
            <a:ext cx="2199085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941535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347" y="3188212"/>
            <a:ext cx="220503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347" y="1657350"/>
            <a:ext cx="2205038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347" y="3620409"/>
            <a:ext cx="220503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032" y="3188212"/>
            <a:ext cx="219789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031" y="1657350"/>
            <a:ext cx="2197894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016" y="3620408"/>
            <a:ext cx="2200805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3188212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3525" y="1657350"/>
            <a:ext cx="2199085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3432" y="3620406"/>
            <a:ext cx="220199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506863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080130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8159" y="322660"/>
            <a:ext cx="1314451" cy="4369594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348" y="665561"/>
            <a:ext cx="5567362" cy="40266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9908449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4095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4"/>
            <a:ext cx="3027759" cy="314123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1"/>
            <a:ext cx="1141809" cy="1774090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60" y="1"/>
            <a:ext cx="1202540" cy="85605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4572000"/>
            <a:ext cx="745301" cy="5715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584" y="339538"/>
            <a:ext cx="7053542" cy="10503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4" y="1539689"/>
            <a:ext cx="6709906" cy="31466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616730" y="1343026"/>
            <a:ext cx="742949" cy="228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713680" y="2418973"/>
            <a:ext cx="2894846" cy="2286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4406" y="221797"/>
            <a:ext cx="628649" cy="57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1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7294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315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5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35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2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187950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Relationship Id="rId9" Type="http://schemas.openxmlformats.org/officeDocument/2006/relationships/image" Target="../media/image2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7" Type="http://schemas.openxmlformats.org/officeDocument/2006/relationships/image" Target="../media/image3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0.svg"/><Relationship Id="rId5" Type="http://schemas.openxmlformats.org/officeDocument/2006/relationships/image" Target="../media/image29.svg"/><Relationship Id="rId4" Type="http://schemas.openxmlformats.org/officeDocument/2006/relationships/image" Target="../media/image2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5.svg"/><Relationship Id="rId5" Type="http://schemas.openxmlformats.org/officeDocument/2006/relationships/image" Target="../media/image34.svg"/><Relationship Id="rId4" Type="http://schemas.openxmlformats.org/officeDocument/2006/relationships/image" Target="../media/image3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9.png"/><Relationship Id="rId4" Type="http://schemas.openxmlformats.org/officeDocument/2006/relationships/image" Target="../media/image38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3" Type="http://schemas.openxmlformats.org/officeDocument/2006/relationships/image" Target="../media/image40.svg"/><Relationship Id="rId7" Type="http://schemas.openxmlformats.org/officeDocument/2006/relationships/image" Target="../media/image44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3.svg"/><Relationship Id="rId5" Type="http://schemas.openxmlformats.org/officeDocument/2006/relationships/image" Target="../media/image42.svg"/><Relationship Id="rId4" Type="http://schemas.openxmlformats.org/officeDocument/2006/relationships/image" Target="../media/image4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9.svg"/><Relationship Id="rId5" Type="http://schemas.openxmlformats.org/officeDocument/2006/relationships/image" Target="../media/image48.svg"/><Relationship Id="rId4" Type="http://schemas.openxmlformats.org/officeDocument/2006/relationships/image" Target="../media/image47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svg"/><Relationship Id="rId3" Type="http://schemas.openxmlformats.org/officeDocument/2006/relationships/image" Target="../media/image50.svg"/><Relationship Id="rId7" Type="http://schemas.openxmlformats.org/officeDocument/2006/relationships/image" Target="../media/image54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3.svg"/><Relationship Id="rId5" Type="http://schemas.openxmlformats.org/officeDocument/2006/relationships/image" Target="../media/image52.svg"/><Relationship Id="rId4" Type="http://schemas.openxmlformats.org/officeDocument/2006/relationships/image" Target="../media/image51.svg"/><Relationship Id="rId9" Type="http://schemas.openxmlformats.org/officeDocument/2006/relationships/image" Target="../media/image5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svg"/><Relationship Id="rId3" Type="http://schemas.openxmlformats.org/officeDocument/2006/relationships/image" Target="../media/image57.svg"/><Relationship Id="rId7" Type="http://schemas.openxmlformats.org/officeDocument/2006/relationships/image" Target="../media/image61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60.svg"/><Relationship Id="rId5" Type="http://schemas.openxmlformats.org/officeDocument/2006/relationships/image" Target="../media/image59.svg"/><Relationship Id="rId4" Type="http://schemas.openxmlformats.org/officeDocument/2006/relationships/image" Target="../media/image58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alphaModFix amt="8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8000" y="0"/>
            <a:ext cx="1714500" cy="17145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>
            <a:alphaModFix amt="6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3714750"/>
            <a:ext cx="1071563" cy="1071563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939854" y="760600"/>
            <a:ext cx="7754566" cy="1071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82"/>
              </a:lnSpc>
              <a:spcAft>
                <a:spcPts val="1350"/>
              </a:spcAft>
              <a:buNone/>
            </a:pPr>
            <a:r>
              <a:rPr lang="en-US" sz="2930" kern="0" spc="-30" dirty="0">
                <a:solidFill>
                  <a:srgbClr val="F0F4F8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Impact of COVID-19 on</a:t>
            </a:r>
            <a:br>
              <a:rPr dirty="0"/>
            </a:br>
            <a:r>
              <a:rPr lang="en-US" sz="2930" b="1" kern="0" spc="-30" dirty="0">
                <a:solidFill>
                  <a:srgbClr val="D4A843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ABC Company's</a:t>
            </a:r>
            <a:r>
              <a:rPr lang="en-US" sz="2930" kern="0" spc="-30" dirty="0">
                <a:solidFill>
                  <a:srgbClr val="F0F4F8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 Parcel Delivery Business</a:t>
            </a:r>
            <a:endParaRPr lang="en-US" sz="2930" dirty="0"/>
          </a:p>
        </p:txBody>
      </p:sp>
      <p:sp>
        <p:nvSpPr>
          <p:cNvPr id="9" name="Text 3"/>
          <p:cNvSpPr/>
          <p:nvPr/>
        </p:nvSpPr>
        <p:spPr>
          <a:xfrm>
            <a:off x="685800" y="2457781"/>
            <a:ext cx="7886700" cy="45719"/>
          </a:xfrm>
          <a:prstGeom prst="roundRect">
            <a:avLst>
              <a:gd name="adj" fmla="val 64736"/>
            </a:avLst>
          </a:prstGeom>
          <a:solidFill>
            <a:srgbClr val="D4A84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4"/>
          <p:cNvSpPr/>
          <p:nvPr/>
        </p:nvSpPr>
        <p:spPr>
          <a:xfrm>
            <a:off x="699641" y="3512046"/>
            <a:ext cx="4714875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60"/>
              </a:lnSpc>
              <a:buNone/>
            </a:pPr>
            <a:endParaRPr lang="en-US" sz="124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6A612F-20BF-A5E6-DA03-61D1311FAFF2}"/>
              </a:ext>
            </a:extLst>
          </p:cNvPr>
          <p:cNvSpPr txBox="1"/>
          <p:nvPr/>
        </p:nvSpPr>
        <p:spPr>
          <a:xfrm>
            <a:off x="872490" y="2823169"/>
            <a:ext cx="7019420" cy="226914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 algn="ctr">
              <a:lnSpc>
                <a:spcPts val="1337"/>
              </a:lnSpc>
              <a:buNone/>
            </a:pPr>
            <a:r>
              <a:rPr lang="en-US" b="1" dirty="0">
                <a:solidFill>
                  <a:srgbClr val="5B9A8B"/>
                </a:solidFill>
                <a:latin typeface="Constantia" pitchFamily="34" charset="0"/>
              </a:rPr>
              <a:t>Programming for Data Science (Final Project) 2026</a:t>
            </a:r>
          </a:p>
          <a:p>
            <a:pPr marL="0" indent="0" algn="ctr">
              <a:lnSpc>
                <a:spcPts val="1337"/>
              </a:lnSpc>
              <a:buNone/>
            </a:pPr>
            <a:br>
              <a:rPr lang="en-US" b="1" dirty="0">
                <a:solidFill>
                  <a:srgbClr val="F0F4F8"/>
                </a:solidFill>
                <a:latin typeface="Constantia" pitchFamily="34" charset="0"/>
              </a:rPr>
            </a:br>
            <a:br>
              <a:rPr lang="en-US" b="1" dirty="0">
                <a:solidFill>
                  <a:srgbClr val="F0F4F8"/>
                </a:solidFill>
                <a:latin typeface="Constantia" pitchFamily="34" charset="0"/>
              </a:rPr>
            </a:br>
            <a:r>
              <a:rPr lang="en-US" b="1" dirty="0">
                <a:solidFill>
                  <a:schemeClr val="accent6"/>
                </a:solidFill>
                <a:latin typeface="Constantia" pitchFamily="34" charset="0"/>
              </a:rPr>
              <a:t>Group Members </a:t>
            </a:r>
            <a:r>
              <a:rPr lang="en-US" b="1" dirty="0">
                <a:solidFill>
                  <a:srgbClr val="F0F4F8"/>
                </a:solidFill>
                <a:latin typeface="Constantia" pitchFamily="34" charset="0"/>
              </a:rPr>
              <a:t>:</a:t>
            </a:r>
          </a:p>
          <a:p>
            <a:pPr marL="0" indent="0" algn="l">
              <a:lnSpc>
                <a:spcPts val="1337"/>
              </a:lnSpc>
              <a:buNone/>
            </a:pPr>
            <a:endParaRPr lang="en-US" b="1" dirty="0">
              <a:solidFill>
                <a:srgbClr val="F0F4F8"/>
              </a:solidFill>
              <a:latin typeface="Constantia" pitchFamily="34" charset="0"/>
            </a:endParaRPr>
          </a:p>
          <a:p>
            <a:pPr algn="ctr">
              <a:lnSpc>
                <a:spcPts val="1337"/>
              </a:lnSpc>
            </a:pPr>
            <a:r>
              <a:rPr lang="en-US" b="1" dirty="0">
                <a:solidFill>
                  <a:srgbClr val="F0F4F8"/>
                </a:solidFill>
                <a:latin typeface="Constantia"/>
              </a:rPr>
              <a:t>Kishan, Limon, Akash</a:t>
            </a:r>
          </a:p>
          <a:p>
            <a:pPr algn="ctr">
              <a:lnSpc>
                <a:spcPts val="1337"/>
              </a:lnSpc>
            </a:pPr>
            <a:br>
              <a:rPr lang="en-US" b="1" dirty="0">
                <a:latin typeface="Constantia" pitchFamily="34" charset="0"/>
              </a:rPr>
            </a:br>
            <a:endParaRPr lang="en-US" b="1" dirty="0">
              <a:solidFill>
                <a:srgbClr val="F0F4F8"/>
              </a:solidFill>
              <a:latin typeface="Constantia" pitchFamily="34" charset="0"/>
            </a:endParaRPr>
          </a:p>
          <a:p>
            <a:pPr algn="ctr">
              <a:lnSpc>
                <a:spcPts val="1337"/>
              </a:lnSpc>
            </a:pPr>
            <a:r>
              <a:rPr lang="en-US" b="1" dirty="0">
                <a:solidFill>
                  <a:schemeClr val="accent3"/>
                </a:solidFill>
                <a:latin typeface="Constantia" pitchFamily="34" charset="0"/>
              </a:rPr>
              <a:t>Submitted To </a:t>
            </a:r>
            <a:r>
              <a:rPr lang="en-US" b="1" dirty="0">
                <a:solidFill>
                  <a:srgbClr val="F0F4F8"/>
                </a:solidFill>
                <a:latin typeface="Constantia" pitchFamily="34" charset="0"/>
              </a:rPr>
              <a:t>: </a:t>
            </a:r>
          </a:p>
          <a:p>
            <a:pPr algn="ctr">
              <a:lnSpc>
                <a:spcPts val="1337"/>
              </a:lnSpc>
            </a:pPr>
            <a:endParaRPr lang="en-US" b="1" dirty="0">
              <a:solidFill>
                <a:srgbClr val="F0F4F8"/>
              </a:solidFill>
              <a:latin typeface="Constantia" pitchFamily="34" charset="0"/>
            </a:endParaRPr>
          </a:p>
          <a:p>
            <a:pPr algn="ctr">
              <a:lnSpc>
                <a:spcPts val="1337"/>
              </a:lnSpc>
            </a:pPr>
            <a:r>
              <a:rPr lang="en-US" b="1" dirty="0">
                <a:solidFill>
                  <a:srgbClr val="F0F4F8"/>
                </a:solidFill>
                <a:latin typeface="Constantia" pitchFamily="34" charset="0"/>
              </a:rPr>
              <a:t>Abu Hena Al Muktadir</a:t>
            </a:r>
            <a:br>
              <a:rPr lang="en-US" b="1" dirty="0">
                <a:solidFill>
                  <a:srgbClr val="F0F4F8"/>
                </a:solidFill>
                <a:latin typeface="Constantia" pitchFamily="34" charset="0"/>
              </a:rPr>
            </a:br>
            <a:br>
              <a:rPr lang="en-US" b="1" dirty="0">
                <a:solidFill>
                  <a:srgbClr val="F0F4F8"/>
                </a:solidFill>
                <a:latin typeface="Constantia" pitchFamily="34" charset="0"/>
              </a:rPr>
            </a:br>
            <a:endParaRPr lang="en-US" sz="1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EA996C-CB9E-E60D-4AC5-E7A7D9AD3816}"/>
              </a:ext>
            </a:extLst>
          </p:cNvPr>
          <p:cNvSpPr txBox="1"/>
          <p:nvPr/>
        </p:nvSpPr>
        <p:spPr>
          <a:xfrm>
            <a:off x="2593221" y="1997165"/>
            <a:ext cx="39575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Analysis &amp; Business Insights</a:t>
            </a:r>
            <a:endParaRPr lang="en-US" dirty="0">
              <a:solidFill>
                <a:schemeClr val="tx2"/>
              </a:solidFill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342900" cy="21580"/>
          </a:xfrm>
          <a:prstGeom prst="roundRect">
            <a:avLst>
              <a:gd name="adj" fmla="val 64736"/>
            </a:avLst>
          </a:prstGeom>
          <a:solidFill>
            <a:srgbClr val="D4A84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78780"/>
            <a:ext cx="8805672" cy="407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10"/>
              </a:lnSpc>
              <a:spcAft>
                <a:spcPts val="340"/>
              </a:spcAft>
              <a:buNone/>
            </a:pPr>
            <a:r>
              <a:rPr lang="en-US" sz="2140" b="1" kern="0" spc="-30" dirty="0">
                <a:solidFill>
                  <a:srgbClr val="F0F4F8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Summary</a:t>
            </a:r>
            <a:endParaRPr lang="en-US" sz="2140" dirty="0"/>
          </a:p>
        </p:txBody>
      </p:sp>
      <p:sp>
        <p:nvSpPr>
          <p:cNvPr id="4" name="Text 2"/>
          <p:cNvSpPr/>
          <p:nvPr/>
        </p:nvSpPr>
        <p:spPr>
          <a:xfrm>
            <a:off x="457200" y="929580"/>
            <a:ext cx="90525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b="1" dirty="0">
                <a:solidFill>
                  <a:srgbClr val="8D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of ABC Company's parcel delivery operations</a:t>
            </a:r>
            <a:endParaRPr lang="en-US" sz="1600" b="1" dirty="0"/>
          </a:p>
        </p:txBody>
      </p:sp>
      <p:sp>
        <p:nvSpPr>
          <p:cNvPr id="5" name="Text 3"/>
          <p:cNvSpPr/>
          <p:nvPr/>
        </p:nvSpPr>
        <p:spPr>
          <a:xfrm>
            <a:off x="457200" y="1301651"/>
            <a:ext cx="4043065" cy="1579662"/>
          </a:xfrm>
          <a:prstGeom prst="roundRect">
            <a:avLst>
              <a:gd name="adj" fmla="val 5467"/>
            </a:avLst>
          </a:prstGeom>
          <a:solidFill>
            <a:srgbClr val="162A4A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800" y="1502271"/>
            <a:ext cx="400050" cy="400050"/>
          </a:xfrm>
          <a:prstGeom prst="ellipse">
            <a:avLst/>
          </a:prstGeom>
          <a:solidFill>
            <a:srgbClr val="D4A843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518" y="1626989"/>
            <a:ext cx="150465" cy="1504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29320" y="1502271"/>
            <a:ext cx="3346579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1400" b="1" kern="0" spc="80" dirty="0">
                <a:solidFill>
                  <a:srgbClr val="D4A843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FINDING 01</a:t>
            </a:r>
            <a:endParaRPr lang="en-US" sz="1400" b="1" dirty="0"/>
          </a:p>
        </p:txBody>
      </p:sp>
      <p:sp>
        <p:nvSpPr>
          <p:cNvPr id="9" name="Text 6"/>
          <p:cNvSpPr/>
          <p:nvPr/>
        </p:nvSpPr>
        <p:spPr>
          <a:xfrm>
            <a:off x="1229320" y="1684437"/>
            <a:ext cx="3346579" cy="169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7"/>
              </a:lnSpc>
              <a:buNone/>
            </a:pPr>
            <a:r>
              <a:rPr lang="en-US" sz="1400" b="1" dirty="0">
                <a:solidFill>
                  <a:srgbClr val="F0F4F8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Pandemic-Driven Volume Shift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29319" y="2109888"/>
            <a:ext cx="3103191" cy="503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</a:pPr>
            <a:r>
              <a:rPr lang="en-US" sz="1200" b="1" dirty="0"/>
              <a:t>Week 11 (March 2020): COVID-19 declaration triggered volume shift.</a:t>
            </a:r>
          </a:p>
        </p:txBody>
      </p:sp>
      <p:sp>
        <p:nvSpPr>
          <p:cNvPr id="11" name="Text 8"/>
          <p:cNvSpPr/>
          <p:nvPr/>
        </p:nvSpPr>
        <p:spPr>
          <a:xfrm>
            <a:off x="4643735" y="1301651"/>
            <a:ext cx="4043065" cy="1579662"/>
          </a:xfrm>
          <a:prstGeom prst="roundRect">
            <a:avLst>
              <a:gd name="adj" fmla="val 5467"/>
            </a:avLst>
          </a:prstGeom>
          <a:solidFill>
            <a:schemeClr val="bg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872335" y="1502271"/>
            <a:ext cx="400050" cy="400050"/>
          </a:xfrm>
          <a:prstGeom prst="ellipse">
            <a:avLst/>
          </a:prstGeom>
          <a:solidFill>
            <a:srgbClr val="D4A843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97053" y="1626989"/>
            <a:ext cx="150465" cy="15046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15855" y="1502271"/>
            <a:ext cx="3346579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1400" b="1" kern="0" spc="80" dirty="0">
                <a:solidFill>
                  <a:srgbClr val="D4A843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FINDING 02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415855" y="1684437"/>
            <a:ext cx="3346579" cy="169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7"/>
              </a:lnSpc>
              <a:buNone/>
            </a:pPr>
            <a:r>
              <a:rPr lang="en-US" sz="1400" b="1" dirty="0">
                <a:solidFill>
                  <a:srgbClr val="F0F4F8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Healthy Pre-COVID Baseline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415855" y="2125361"/>
            <a:ext cx="3103191" cy="503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</a:pPr>
            <a:r>
              <a:rPr lang="en-US" sz="1200" b="1" dirty="0"/>
              <a:t>Pre-COVID growth baseline: 11.40%.</a:t>
            </a:r>
          </a:p>
        </p:txBody>
      </p:sp>
      <p:sp>
        <p:nvSpPr>
          <p:cNvPr id="17" name="Text 13"/>
          <p:cNvSpPr/>
          <p:nvPr/>
        </p:nvSpPr>
        <p:spPr>
          <a:xfrm>
            <a:off x="457200" y="3024783"/>
            <a:ext cx="4043065" cy="1579662"/>
          </a:xfrm>
          <a:prstGeom prst="roundRect">
            <a:avLst>
              <a:gd name="adj" fmla="val 5467"/>
            </a:avLst>
          </a:prstGeom>
          <a:solidFill>
            <a:schemeClr val="bg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685800" y="3225403"/>
            <a:ext cx="400050" cy="400050"/>
          </a:xfrm>
          <a:prstGeom prst="ellipse">
            <a:avLst/>
          </a:prstGeom>
          <a:solidFill>
            <a:srgbClr val="D4A843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0518" y="3350121"/>
            <a:ext cx="150465" cy="15046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29320" y="3225403"/>
            <a:ext cx="3346579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1400" b="1" kern="0" spc="80" dirty="0">
                <a:solidFill>
                  <a:srgbClr val="D4A843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FINDING 03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229320" y="3407569"/>
            <a:ext cx="3346579" cy="169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7"/>
              </a:lnSpc>
              <a:buNone/>
            </a:pPr>
            <a:r>
              <a:rPr lang="en-US" sz="1400" b="1" dirty="0">
                <a:solidFill>
                  <a:srgbClr val="F0F4F8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Segment-Level Resilience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1229318" y="3848493"/>
            <a:ext cx="3103191" cy="503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</a:pPr>
            <a:r>
              <a:rPr lang="en-US" sz="1200" b="1" dirty="0"/>
              <a:t>Enterprise &amp; Large led growth (66.67%).</a:t>
            </a:r>
          </a:p>
        </p:txBody>
      </p:sp>
      <p:sp>
        <p:nvSpPr>
          <p:cNvPr id="23" name="Text 18"/>
          <p:cNvSpPr/>
          <p:nvPr/>
        </p:nvSpPr>
        <p:spPr>
          <a:xfrm>
            <a:off x="4643735" y="3024783"/>
            <a:ext cx="4043065" cy="1579662"/>
          </a:xfrm>
          <a:prstGeom prst="roundRect">
            <a:avLst>
              <a:gd name="adj" fmla="val 5467"/>
            </a:avLst>
          </a:prstGeom>
          <a:solidFill>
            <a:srgbClr val="162A4A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4872335" y="3225403"/>
            <a:ext cx="400050" cy="400050"/>
          </a:xfrm>
          <a:prstGeom prst="ellipse">
            <a:avLst/>
          </a:prstGeom>
          <a:solidFill>
            <a:srgbClr val="D4A843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97053" y="3350121"/>
            <a:ext cx="150465" cy="150465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415855" y="3225403"/>
            <a:ext cx="3346579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1400" b="1" kern="0" spc="80" dirty="0">
                <a:solidFill>
                  <a:srgbClr val="D4A843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FINDING 04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5415855" y="3407569"/>
            <a:ext cx="3346579" cy="169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7"/>
              </a:lnSpc>
              <a:buNone/>
            </a:pPr>
            <a:r>
              <a:rPr lang="en-US" sz="1400" b="1" dirty="0">
                <a:solidFill>
                  <a:srgbClr val="F0F4F8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Record Peak Season Volumes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5415854" y="3822409"/>
            <a:ext cx="3103191" cy="503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</a:pPr>
            <a:r>
              <a:rPr lang="en-US" sz="1200" b="1" dirty="0"/>
              <a:t>2020 peak volumes surged due to e-commerce.</a:t>
            </a:r>
          </a:p>
        </p:txBody>
      </p:sp>
      <p:sp>
        <p:nvSpPr>
          <p:cNvPr id="31" name="Text 25"/>
          <p:cNvSpPr/>
          <p:nvPr/>
        </p:nvSpPr>
        <p:spPr>
          <a:xfrm>
            <a:off x="3488978" y="4784378"/>
            <a:ext cx="5197822" cy="7590"/>
          </a:xfrm>
          <a:prstGeom prst="rect">
            <a:avLst/>
          </a:prstGeom>
          <a:solidFill>
            <a:srgbClr val="8DA4BF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6"/>
          <p:cNvSpPr/>
          <p:nvPr/>
        </p:nvSpPr>
        <p:spPr>
          <a:xfrm>
            <a:off x="457200" y="1301651"/>
            <a:ext cx="29170" cy="1579664"/>
          </a:xfrm>
          <a:custGeom>
            <a:avLst/>
            <a:gdLst/>
            <a:ahLst/>
            <a:cxnLst/>
            <a:rect l="l" t="t" r="r" b="b"/>
            <a:pathLst>
              <a:path w="29170" h="1579664">
                <a:moveTo>
                  <a:pt x="0" y="86360"/>
                </a:moveTo>
                <a:lnTo>
                  <a:pt x="3646" y="61531"/>
                </a:lnTo>
                <a:lnTo>
                  <a:pt x="7293" y="51627"/>
                </a:lnTo>
                <a:lnTo>
                  <a:pt x="10939" y="44292"/>
                </a:lnTo>
                <a:lnTo>
                  <a:pt x="14585" y="38335"/>
                </a:lnTo>
                <a:lnTo>
                  <a:pt x="18231" y="33289"/>
                </a:lnTo>
                <a:lnTo>
                  <a:pt x="21878" y="28914"/>
                </a:lnTo>
                <a:lnTo>
                  <a:pt x="25524" y="25065"/>
                </a:lnTo>
                <a:lnTo>
                  <a:pt x="29170" y="21650"/>
                </a:lnTo>
                <a:lnTo>
                  <a:pt x="29170" y="1558014"/>
                </a:lnTo>
                <a:lnTo>
                  <a:pt x="25524" y="1554599"/>
                </a:lnTo>
                <a:lnTo>
                  <a:pt x="21878" y="1550750"/>
                </a:lnTo>
                <a:lnTo>
                  <a:pt x="18231" y="1546375"/>
                </a:lnTo>
                <a:lnTo>
                  <a:pt x="14585" y="1541329"/>
                </a:lnTo>
                <a:lnTo>
                  <a:pt x="10939" y="1535372"/>
                </a:lnTo>
                <a:lnTo>
                  <a:pt x="7293" y="1528037"/>
                </a:lnTo>
                <a:lnTo>
                  <a:pt x="3646" y="1518133"/>
                </a:lnTo>
                <a:lnTo>
                  <a:pt x="0" y="1493304"/>
                </a:lnTo>
                <a:close/>
              </a:path>
            </a:pathLst>
          </a:custGeom>
          <a:solidFill>
            <a:srgbClr val="D4A84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7"/>
          <p:cNvSpPr/>
          <p:nvPr/>
        </p:nvSpPr>
        <p:spPr>
          <a:xfrm>
            <a:off x="4643735" y="1301651"/>
            <a:ext cx="29170" cy="1579664"/>
          </a:xfrm>
          <a:custGeom>
            <a:avLst/>
            <a:gdLst/>
            <a:ahLst/>
            <a:cxnLst/>
            <a:rect l="l" t="t" r="r" b="b"/>
            <a:pathLst>
              <a:path w="29170" h="1579664">
                <a:moveTo>
                  <a:pt x="0" y="86360"/>
                </a:moveTo>
                <a:lnTo>
                  <a:pt x="3646" y="61531"/>
                </a:lnTo>
                <a:lnTo>
                  <a:pt x="7293" y="51627"/>
                </a:lnTo>
                <a:lnTo>
                  <a:pt x="10939" y="44292"/>
                </a:lnTo>
                <a:lnTo>
                  <a:pt x="14585" y="38335"/>
                </a:lnTo>
                <a:lnTo>
                  <a:pt x="18231" y="33289"/>
                </a:lnTo>
                <a:lnTo>
                  <a:pt x="21878" y="28914"/>
                </a:lnTo>
                <a:lnTo>
                  <a:pt x="25524" y="25065"/>
                </a:lnTo>
                <a:lnTo>
                  <a:pt x="29170" y="21650"/>
                </a:lnTo>
                <a:lnTo>
                  <a:pt x="29170" y="1558014"/>
                </a:lnTo>
                <a:lnTo>
                  <a:pt x="25524" y="1554599"/>
                </a:lnTo>
                <a:lnTo>
                  <a:pt x="21878" y="1550750"/>
                </a:lnTo>
                <a:lnTo>
                  <a:pt x="18231" y="1546375"/>
                </a:lnTo>
                <a:lnTo>
                  <a:pt x="14585" y="1541329"/>
                </a:lnTo>
                <a:lnTo>
                  <a:pt x="10939" y="1535372"/>
                </a:lnTo>
                <a:lnTo>
                  <a:pt x="7293" y="1528037"/>
                </a:lnTo>
                <a:lnTo>
                  <a:pt x="3646" y="1518133"/>
                </a:lnTo>
                <a:lnTo>
                  <a:pt x="0" y="1493304"/>
                </a:lnTo>
                <a:close/>
              </a:path>
            </a:pathLst>
          </a:custGeom>
          <a:solidFill>
            <a:srgbClr val="D4A84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8"/>
          <p:cNvSpPr/>
          <p:nvPr/>
        </p:nvSpPr>
        <p:spPr>
          <a:xfrm>
            <a:off x="457200" y="3024783"/>
            <a:ext cx="29170" cy="1579664"/>
          </a:xfrm>
          <a:custGeom>
            <a:avLst/>
            <a:gdLst/>
            <a:ahLst/>
            <a:cxnLst/>
            <a:rect l="l" t="t" r="r" b="b"/>
            <a:pathLst>
              <a:path w="29170" h="1579664">
                <a:moveTo>
                  <a:pt x="0" y="86360"/>
                </a:moveTo>
                <a:lnTo>
                  <a:pt x="3646" y="61531"/>
                </a:lnTo>
                <a:lnTo>
                  <a:pt x="7293" y="51627"/>
                </a:lnTo>
                <a:lnTo>
                  <a:pt x="10939" y="44292"/>
                </a:lnTo>
                <a:lnTo>
                  <a:pt x="14585" y="38335"/>
                </a:lnTo>
                <a:lnTo>
                  <a:pt x="18231" y="33289"/>
                </a:lnTo>
                <a:lnTo>
                  <a:pt x="21878" y="28914"/>
                </a:lnTo>
                <a:lnTo>
                  <a:pt x="25524" y="25065"/>
                </a:lnTo>
                <a:lnTo>
                  <a:pt x="29170" y="21650"/>
                </a:lnTo>
                <a:lnTo>
                  <a:pt x="29170" y="1558014"/>
                </a:lnTo>
                <a:lnTo>
                  <a:pt x="25524" y="1554599"/>
                </a:lnTo>
                <a:lnTo>
                  <a:pt x="21878" y="1550750"/>
                </a:lnTo>
                <a:lnTo>
                  <a:pt x="18231" y="1546375"/>
                </a:lnTo>
                <a:lnTo>
                  <a:pt x="14585" y="1541329"/>
                </a:lnTo>
                <a:lnTo>
                  <a:pt x="10939" y="1535372"/>
                </a:lnTo>
                <a:lnTo>
                  <a:pt x="7293" y="1528037"/>
                </a:lnTo>
                <a:lnTo>
                  <a:pt x="3646" y="1518133"/>
                </a:lnTo>
                <a:lnTo>
                  <a:pt x="0" y="1493304"/>
                </a:lnTo>
                <a:close/>
              </a:path>
            </a:pathLst>
          </a:custGeom>
          <a:solidFill>
            <a:srgbClr val="D4A84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29"/>
          <p:cNvSpPr/>
          <p:nvPr/>
        </p:nvSpPr>
        <p:spPr>
          <a:xfrm>
            <a:off x="4643735" y="3024783"/>
            <a:ext cx="29170" cy="1579664"/>
          </a:xfrm>
          <a:custGeom>
            <a:avLst/>
            <a:gdLst/>
            <a:ahLst/>
            <a:cxnLst/>
            <a:rect l="l" t="t" r="r" b="b"/>
            <a:pathLst>
              <a:path w="29170" h="1579664">
                <a:moveTo>
                  <a:pt x="0" y="86360"/>
                </a:moveTo>
                <a:lnTo>
                  <a:pt x="3646" y="61531"/>
                </a:lnTo>
                <a:lnTo>
                  <a:pt x="7293" y="51627"/>
                </a:lnTo>
                <a:lnTo>
                  <a:pt x="10939" y="44292"/>
                </a:lnTo>
                <a:lnTo>
                  <a:pt x="14585" y="38335"/>
                </a:lnTo>
                <a:lnTo>
                  <a:pt x="18231" y="33289"/>
                </a:lnTo>
                <a:lnTo>
                  <a:pt x="21878" y="28914"/>
                </a:lnTo>
                <a:lnTo>
                  <a:pt x="25524" y="25065"/>
                </a:lnTo>
                <a:lnTo>
                  <a:pt x="29170" y="21650"/>
                </a:lnTo>
                <a:lnTo>
                  <a:pt x="29170" y="1558014"/>
                </a:lnTo>
                <a:lnTo>
                  <a:pt x="25524" y="1554599"/>
                </a:lnTo>
                <a:lnTo>
                  <a:pt x="21878" y="1550750"/>
                </a:lnTo>
                <a:lnTo>
                  <a:pt x="18231" y="1546375"/>
                </a:lnTo>
                <a:lnTo>
                  <a:pt x="14585" y="1541329"/>
                </a:lnTo>
                <a:lnTo>
                  <a:pt x="10939" y="1535372"/>
                </a:lnTo>
                <a:lnTo>
                  <a:pt x="7293" y="1528037"/>
                </a:lnTo>
                <a:lnTo>
                  <a:pt x="3646" y="1518133"/>
                </a:lnTo>
                <a:lnTo>
                  <a:pt x="0" y="1493304"/>
                </a:lnTo>
                <a:close/>
              </a:path>
            </a:pathLst>
          </a:custGeom>
          <a:solidFill>
            <a:srgbClr val="D4A84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9220" y="372070"/>
            <a:ext cx="342900" cy="21580"/>
          </a:xfrm>
          <a:prstGeom prst="roundRect">
            <a:avLst>
              <a:gd name="adj" fmla="val 64736"/>
            </a:avLst>
          </a:prstGeom>
          <a:solidFill>
            <a:srgbClr val="D4A84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9220" y="479971"/>
            <a:ext cx="8865549" cy="312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61"/>
              </a:lnSpc>
              <a:buNone/>
            </a:pPr>
            <a:r>
              <a:rPr lang="en-US" sz="2140" b="1" kern="0" spc="-21" dirty="0">
                <a:solidFill>
                  <a:srgbClr val="F0F4F8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Study Objectives</a:t>
            </a:r>
            <a:endParaRPr lang="en-US" sz="2140" dirty="0"/>
          </a:p>
        </p:txBody>
      </p:sp>
      <p:sp>
        <p:nvSpPr>
          <p:cNvPr id="4" name="Text 2"/>
          <p:cNvSpPr/>
          <p:nvPr/>
        </p:nvSpPr>
        <p:spPr>
          <a:xfrm>
            <a:off x="429220" y="835521"/>
            <a:ext cx="911411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340"/>
              </a:spcBef>
              <a:buNone/>
            </a:pPr>
            <a:r>
              <a:rPr lang="en-US" sz="1300" b="1" dirty="0">
                <a:solidFill>
                  <a:srgbClr val="8D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research questions guiding this analysis</a:t>
            </a:r>
            <a:endParaRPr lang="en-US" sz="1300" b="1" dirty="0"/>
          </a:p>
        </p:txBody>
      </p:sp>
      <p:sp>
        <p:nvSpPr>
          <p:cNvPr id="5" name="Text 3"/>
          <p:cNvSpPr/>
          <p:nvPr/>
        </p:nvSpPr>
        <p:spPr>
          <a:xfrm>
            <a:off x="429220" y="1235571"/>
            <a:ext cx="4042470" cy="1682204"/>
          </a:xfrm>
          <a:prstGeom prst="roundRect">
            <a:avLst>
              <a:gd name="adj" fmla="val 5134"/>
            </a:avLst>
          </a:prstGeom>
          <a:solidFill>
            <a:schemeClr val="bg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928318" y="1363712"/>
            <a:ext cx="39051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30"/>
              </a:lnSpc>
              <a:buNone/>
            </a:pPr>
            <a:r>
              <a:rPr lang="en-US" sz="2930" b="1" dirty="0">
                <a:latin typeface="Constantia" pitchFamily="34" charset="0"/>
                <a:ea typeface="Constantia" pitchFamily="34" charset="-122"/>
                <a:cs typeface="Constantia" pitchFamily="34" charset="-120"/>
              </a:rPr>
              <a:t>01</a:t>
            </a:r>
            <a:endParaRPr lang="en-US" sz="2930" dirty="0"/>
          </a:p>
        </p:txBody>
      </p:sp>
      <p:sp>
        <p:nvSpPr>
          <p:cNvPr id="7" name="Text 5"/>
          <p:cNvSpPr/>
          <p:nvPr/>
        </p:nvSpPr>
        <p:spPr>
          <a:xfrm>
            <a:off x="643830" y="1464171"/>
            <a:ext cx="356741" cy="356741"/>
          </a:xfrm>
          <a:prstGeom prst="roundRect">
            <a:avLst>
              <a:gd name="adj" fmla="val 19936"/>
            </a:avLst>
          </a:prstGeom>
          <a:solidFill>
            <a:srgbClr val="D4A843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2624" y="1572964"/>
            <a:ext cx="139005" cy="13900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3830" y="1935212"/>
            <a:ext cx="3974574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560"/>
              </a:spcAft>
              <a:buNone/>
            </a:pPr>
            <a:r>
              <a:rPr lang="en-US" sz="1400" b="1" kern="0" spc="10" dirty="0">
                <a:solidFill>
                  <a:srgbClr val="D4A843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Overall Business Impact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3830" y="2158454"/>
            <a:ext cx="3685514" cy="586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49"/>
              </a:lnSpc>
            </a:pPr>
            <a:r>
              <a:rPr lang="en-US" sz="1300" b="1" dirty="0"/>
              <a:t>Analyze COVID-19 impact on volume, growth, and demand.</a:t>
            </a:r>
          </a:p>
        </p:txBody>
      </p:sp>
      <p:sp>
        <p:nvSpPr>
          <p:cNvPr id="11" name="Text 8"/>
          <p:cNvSpPr/>
          <p:nvPr/>
        </p:nvSpPr>
        <p:spPr>
          <a:xfrm>
            <a:off x="4672310" y="1235571"/>
            <a:ext cx="4042470" cy="1682204"/>
          </a:xfrm>
          <a:prstGeom prst="roundRect">
            <a:avLst>
              <a:gd name="adj" fmla="val 5134"/>
            </a:avLst>
          </a:prstGeom>
          <a:solidFill>
            <a:srgbClr val="162A4A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8171408" y="1363712"/>
            <a:ext cx="39051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30"/>
              </a:lnSpc>
              <a:buNone/>
            </a:pPr>
            <a:r>
              <a:rPr lang="en-US" sz="2930" b="1" dirty="0">
                <a:latin typeface="Constantia" pitchFamily="34" charset="0"/>
                <a:ea typeface="Constantia" pitchFamily="34" charset="-122"/>
                <a:cs typeface="Constantia" pitchFamily="34" charset="-120"/>
              </a:rPr>
              <a:t>02</a:t>
            </a:r>
            <a:endParaRPr lang="en-US" sz="2930" dirty="0"/>
          </a:p>
        </p:txBody>
      </p:sp>
      <p:sp>
        <p:nvSpPr>
          <p:cNvPr id="13" name="Text 10"/>
          <p:cNvSpPr/>
          <p:nvPr/>
        </p:nvSpPr>
        <p:spPr>
          <a:xfrm>
            <a:off x="4886920" y="1464171"/>
            <a:ext cx="356741" cy="356741"/>
          </a:xfrm>
          <a:prstGeom prst="roundRect">
            <a:avLst>
              <a:gd name="adj" fmla="val 19936"/>
            </a:avLst>
          </a:prstGeom>
          <a:solidFill>
            <a:srgbClr val="D4A843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95714" y="1572964"/>
            <a:ext cx="139005" cy="13900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886920" y="1935212"/>
            <a:ext cx="3974574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560"/>
              </a:spcAft>
              <a:buNone/>
            </a:pPr>
            <a:r>
              <a:rPr lang="en-US" sz="1400" b="1" kern="0" spc="10" dirty="0">
                <a:solidFill>
                  <a:srgbClr val="D4A843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Timeline &amp; Inflection Points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886920" y="2158454"/>
            <a:ext cx="3685514" cy="586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49"/>
              </a:lnSpc>
            </a:pPr>
            <a:r>
              <a:rPr lang="en-US" sz="1300" b="1" dirty="0"/>
              <a:t>Find when volumes changed and key COVID causes.</a:t>
            </a:r>
          </a:p>
        </p:txBody>
      </p:sp>
      <p:sp>
        <p:nvSpPr>
          <p:cNvPr id="17" name="Text 13"/>
          <p:cNvSpPr/>
          <p:nvPr/>
        </p:nvSpPr>
        <p:spPr>
          <a:xfrm>
            <a:off x="429220" y="3118396"/>
            <a:ext cx="4042470" cy="1682204"/>
          </a:xfrm>
          <a:prstGeom prst="roundRect">
            <a:avLst>
              <a:gd name="adj" fmla="val 5134"/>
            </a:avLst>
          </a:prstGeom>
          <a:solidFill>
            <a:srgbClr val="162A4A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3928318" y="3246537"/>
            <a:ext cx="39051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30"/>
              </a:lnSpc>
              <a:buNone/>
            </a:pPr>
            <a:r>
              <a:rPr lang="en-US" sz="2930" b="1" dirty="0">
                <a:latin typeface="Constantia" pitchFamily="34" charset="0"/>
                <a:ea typeface="Constantia" pitchFamily="34" charset="-122"/>
                <a:cs typeface="Constantia" pitchFamily="34" charset="-120"/>
              </a:rPr>
              <a:t>03</a:t>
            </a:r>
            <a:endParaRPr lang="en-US" sz="2930" dirty="0"/>
          </a:p>
        </p:txBody>
      </p:sp>
      <p:sp>
        <p:nvSpPr>
          <p:cNvPr id="19" name="Text 15"/>
          <p:cNvSpPr/>
          <p:nvPr/>
        </p:nvSpPr>
        <p:spPr>
          <a:xfrm>
            <a:off x="643830" y="3346996"/>
            <a:ext cx="356741" cy="356741"/>
          </a:xfrm>
          <a:prstGeom prst="roundRect">
            <a:avLst>
              <a:gd name="adj" fmla="val 19936"/>
            </a:avLst>
          </a:prstGeom>
          <a:solidFill>
            <a:srgbClr val="D4A843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624" y="3455789"/>
            <a:ext cx="139005" cy="13900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3830" y="3818037"/>
            <a:ext cx="3974574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560"/>
              </a:spcAft>
              <a:buNone/>
            </a:pPr>
            <a:r>
              <a:rPr lang="en-US" sz="1400" b="1" kern="0" spc="10" dirty="0">
                <a:solidFill>
                  <a:srgbClr val="D4A843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Peak Season Comparison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43830" y="4041279"/>
            <a:ext cx="3685514" cy="586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49"/>
              </a:lnSpc>
            </a:pPr>
            <a:r>
              <a:rPr lang="en-US" sz="1300" b="1" dirty="0"/>
              <a:t>Compare 2020 vs 2019 peak season impact.</a:t>
            </a:r>
          </a:p>
        </p:txBody>
      </p:sp>
      <p:sp>
        <p:nvSpPr>
          <p:cNvPr id="23" name="Text 18"/>
          <p:cNvSpPr/>
          <p:nvPr/>
        </p:nvSpPr>
        <p:spPr>
          <a:xfrm>
            <a:off x="4672310" y="3118396"/>
            <a:ext cx="4042470" cy="1682204"/>
          </a:xfrm>
          <a:prstGeom prst="roundRect">
            <a:avLst>
              <a:gd name="adj" fmla="val 5134"/>
            </a:avLst>
          </a:prstGeom>
          <a:solidFill>
            <a:schemeClr val="bg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8171408" y="3246537"/>
            <a:ext cx="39051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30"/>
              </a:lnSpc>
              <a:buNone/>
            </a:pPr>
            <a:r>
              <a:rPr lang="en-US" sz="2930" b="1" dirty="0">
                <a:latin typeface="Constantia" pitchFamily="34" charset="0"/>
                <a:ea typeface="Constantia" pitchFamily="34" charset="-122"/>
                <a:cs typeface="Constantia" pitchFamily="34" charset="-120"/>
              </a:rPr>
              <a:t>04</a:t>
            </a:r>
            <a:endParaRPr lang="en-US" sz="2930" dirty="0"/>
          </a:p>
        </p:txBody>
      </p:sp>
      <p:sp>
        <p:nvSpPr>
          <p:cNvPr id="25" name="Text 20"/>
          <p:cNvSpPr/>
          <p:nvPr/>
        </p:nvSpPr>
        <p:spPr>
          <a:xfrm>
            <a:off x="4886920" y="3346996"/>
            <a:ext cx="356741" cy="356741"/>
          </a:xfrm>
          <a:prstGeom prst="roundRect">
            <a:avLst>
              <a:gd name="adj" fmla="val 19936"/>
            </a:avLst>
          </a:prstGeom>
          <a:solidFill>
            <a:srgbClr val="D4A843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95714" y="3455789"/>
            <a:ext cx="139005" cy="139005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886920" y="3818037"/>
            <a:ext cx="3974574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560"/>
              </a:spcAft>
              <a:buNone/>
            </a:pPr>
            <a:r>
              <a:rPr lang="en-US" sz="1400" b="1" kern="0" spc="10" dirty="0">
                <a:solidFill>
                  <a:srgbClr val="D4A843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Customer Segment Analysis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4886920" y="4041279"/>
            <a:ext cx="3685514" cy="586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49"/>
              </a:lnSpc>
            </a:pPr>
            <a:r>
              <a:rPr lang="en-US" sz="1300" b="1" dirty="0"/>
              <a:t>Analyze segment impact by growth, decline, and churn.</a:t>
            </a:r>
          </a:p>
        </p:txBody>
      </p:sp>
      <p:sp>
        <p:nvSpPr>
          <p:cNvPr id="29" name="Text 23"/>
          <p:cNvSpPr/>
          <p:nvPr/>
        </p:nvSpPr>
        <p:spPr>
          <a:xfrm>
            <a:off x="429220" y="1235571"/>
            <a:ext cx="4042467" cy="21580"/>
          </a:xfrm>
          <a:custGeom>
            <a:avLst/>
            <a:gdLst/>
            <a:ahLst/>
            <a:cxnLst/>
            <a:rect l="l" t="t" r="r" b="b"/>
            <a:pathLst>
              <a:path w="4042467" h="21580">
                <a:moveTo>
                  <a:pt x="86360" y="0"/>
                </a:moveTo>
                <a:lnTo>
                  <a:pt x="3956107" y="0"/>
                </a:lnTo>
                <a:lnTo>
                  <a:pt x="3977523" y="2698"/>
                </a:lnTo>
                <a:lnTo>
                  <a:pt x="3986152" y="5395"/>
                </a:lnTo>
                <a:lnTo>
                  <a:pt x="3992607" y="8093"/>
                </a:lnTo>
                <a:lnTo>
                  <a:pt x="3997907" y="10790"/>
                </a:lnTo>
                <a:lnTo>
                  <a:pt x="4002450" y="13488"/>
                </a:lnTo>
                <a:lnTo>
                  <a:pt x="4006441" y="16185"/>
                </a:lnTo>
                <a:lnTo>
                  <a:pt x="4010004" y="18883"/>
                </a:lnTo>
                <a:lnTo>
                  <a:pt x="4013218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solidFill>
            <a:srgbClr val="D4A84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4"/>
          <p:cNvSpPr/>
          <p:nvPr/>
        </p:nvSpPr>
        <p:spPr>
          <a:xfrm>
            <a:off x="4672310" y="1235571"/>
            <a:ext cx="4042467" cy="21580"/>
          </a:xfrm>
          <a:custGeom>
            <a:avLst/>
            <a:gdLst/>
            <a:ahLst/>
            <a:cxnLst/>
            <a:rect l="l" t="t" r="r" b="b"/>
            <a:pathLst>
              <a:path w="4042467" h="21580">
                <a:moveTo>
                  <a:pt x="86360" y="0"/>
                </a:moveTo>
                <a:lnTo>
                  <a:pt x="3956107" y="0"/>
                </a:lnTo>
                <a:lnTo>
                  <a:pt x="3977523" y="2698"/>
                </a:lnTo>
                <a:lnTo>
                  <a:pt x="3986152" y="5395"/>
                </a:lnTo>
                <a:lnTo>
                  <a:pt x="3992607" y="8093"/>
                </a:lnTo>
                <a:lnTo>
                  <a:pt x="3997907" y="10790"/>
                </a:lnTo>
                <a:lnTo>
                  <a:pt x="4002450" y="13488"/>
                </a:lnTo>
                <a:lnTo>
                  <a:pt x="4006441" y="16185"/>
                </a:lnTo>
                <a:lnTo>
                  <a:pt x="4010004" y="18883"/>
                </a:lnTo>
                <a:lnTo>
                  <a:pt x="4013218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solidFill>
            <a:srgbClr val="D4A84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5"/>
          <p:cNvSpPr/>
          <p:nvPr/>
        </p:nvSpPr>
        <p:spPr>
          <a:xfrm>
            <a:off x="429220" y="3118396"/>
            <a:ext cx="4042467" cy="21580"/>
          </a:xfrm>
          <a:custGeom>
            <a:avLst/>
            <a:gdLst/>
            <a:ahLst/>
            <a:cxnLst/>
            <a:rect l="l" t="t" r="r" b="b"/>
            <a:pathLst>
              <a:path w="4042467" h="21580">
                <a:moveTo>
                  <a:pt x="86360" y="0"/>
                </a:moveTo>
                <a:lnTo>
                  <a:pt x="3956107" y="0"/>
                </a:lnTo>
                <a:lnTo>
                  <a:pt x="3977523" y="2698"/>
                </a:lnTo>
                <a:lnTo>
                  <a:pt x="3986152" y="5395"/>
                </a:lnTo>
                <a:lnTo>
                  <a:pt x="3992607" y="8093"/>
                </a:lnTo>
                <a:lnTo>
                  <a:pt x="3997907" y="10790"/>
                </a:lnTo>
                <a:lnTo>
                  <a:pt x="4002450" y="13488"/>
                </a:lnTo>
                <a:lnTo>
                  <a:pt x="4006441" y="16185"/>
                </a:lnTo>
                <a:lnTo>
                  <a:pt x="4010004" y="18883"/>
                </a:lnTo>
                <a:lnTo>
                  <a:pt x="4013218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solidFill>
            <a:srgbClr val="D4A84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6"/>
          <p:cNvSpPr/>
          <p:nvPr/>
        </p:nvSpPr>
        <p:spPr>
          <a:xfrm>
            <a:off x="4672310" y="3118396"/>
            <a:ext cx="4042467" cy="21580"/>
          </a:xfrm>
          <a:custGeom>
            <a:avLst/>
            <a:gdLst/>
            <a:ahLst/>
            <a:cxnLst/>
            <a:rect l="l" t="t" r="r" b="b"/>
            <a:pathLst>
              <a:path w="4042467" h="21580">
                <a:moveTo>
                  <a:pt x="86360" y="0"/>
                </a:moveTo>
                <a:lnTo>
                  <a:pt x="3956107" y="0"/>
                </a:lnTo>
                <a:lnTo>
                  <a:pt x="3977523" y="2698"/>
                </a:lnTo>
                <a:lnTo>
                  <a:pt x="3986152" y="5395"/>
                </a:lnTo>
                <a:lnTo>
                  <a:pt x="3992607" y="8093"/>
                </a:lnTo>
                <a:lnTo>
                  <a:pt x="3997907" y="10790"/>
                </a:lnTo>
                <a:lnTo>
                  <a:pt x="4002450" y="13488"/>
                </a:lnTo>
                <a:lnTo>
                  <a:pt x="4006441" y="16185"/>
                </a:lnTo>
                <a:lnTo>
                  <a:pt x="4010004" y="18883"/>
                </a:lnTo>
                <a:lnTo>
                  <a:pt x="4013218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solidFill>
            <a:srgbClr val="D4A84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342900"/>
            <a:ext cx="271760" cy="271760"/>
          </a:xfrm>
          <a:prstGeom prst="roundRect">
            <a:avLst>
              <a:gd name="adj" fmla="val 26170"/>
            </a:avLst>
          </a:prstGeom>
          <a:solidFill>
            <a:srgbClr val="D4A843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562" y="412412"/>
            <a:ext cx="132588" cy="1325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2120" y="355402"/>
            <a:ext cx="4091191" cy="2467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43"/>
              </a:lnSpc>
              <a:buNone/>
            </a:pPr>
            <a:r>
              <a:rPr lang="en-US" sz="1690" b="1" dirty="0">
                <a:solidFill>
                  <a:srgbClr val="F0F4F8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Dataset Overview &amp; Descriptive Statistics</a:t>
            </a:r>
            <a:endParaRPr lang="en-US" sz="1690" dirty="0"/>
          </a:p>
        </p:txBody>
      </p:sp>
      <p:sp>
        <p:nvSpPr>
          <p:cNvPr id="5" name="Text 2"/>
          <p:cNvSpPr/>
          <p:nvPr/>
        </p:nvSpPr>
        <p:spPr>
          <a:xfrm>
            <a:off x="772120" y="685651"/>
            <a:ext cx="429220" cy="21580"/>
          </a:xfrm>
          <a:prstGeom prst="roundRect">
            <a:avLst>
              <a:gd name="adj" fmla="val 64736"/>
            </a:avLst>
          </a:prstGeom>
          <a:solidFill>
            <a:srgbClr val="D4A84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348644" y="1090576"/>
            <a:ext cx="2685604" cy="1585764"/>
          </a:xfrm>
          <a:prstGeom prst="roundRect">
            <a:avLst>
              <a:gd name="adj" fmla="val 5446"/>
            </a:avLst>
          </a:prstGeom>
          <a:solidFill>
            <a:schemeClr val="bg2"/>
          </a:solidFill>
          <a:ln w="9525">
            <a:solidFill>
              <a:srgbClr val="D4A843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29619" y="1300722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D4A843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0711" y="1391813"/>
            <a:ext cx="132588" cy="1325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9619" y="1729942"/>
            <a:ext cx="2556019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1400" b="1" kern="0" spc="7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29619" y="1923567"/>
            <a:ext cx="2486309" cy="251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800" b="1" dirty="0">
                <a:solidFill>
                  <a:srgbClr val="F0F4F8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190,719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503924" y="2273582"/>
            <a:ext cx="2556019" cy="301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64"/>
              </a:lnSpc>
              <a:buNone/>
            </a:pPr>
            <a:r>
              <a:rPr lang="en-US" sz="1200" b="1" dirty="0">
                <a:solidFill>
                  <a:srgbClr val="8DA4BF"/>
                </a:solidFill>
                <a:latin typeface="Century Gothic (Body)"/>
                <a:ea typeface="Calibri" pitchFamily="34" charset="-122"/>
                <a:cs typeface="Calibri" pitchFamily="34" charset="-120"/>
              </a:rPr>
              <a:t>Weekly shipment entries across </a:t>
            </a:r>
          </a:p>
          <a:p>
            <a:pPr marL="0" indent="0" algn="l">
              <a:lnSpc>
                <a:spcPts val="1064"/>
              </a:lnSpc>
              <a:buNone/>
            </a:pPr>
            <a:r>
              <a:rPr lang="en-US" sz="1200" b="1" dirty="0">
                <a:solidFill>
                  <a:srgbClr val="8DA4BF"/>
                </a:solidFill>
                <a:latin typeface="Century Gothic (Body)"/>
                <a:ea typeface="Calibri" pitchFamily="34" charset="-122"/>
                <a:cs typeface="Calibri" pitchFamily="34" charset="-120"/>
              </a:rPr>
              <a:t>the full dataset</a:t>
            </a:r>
            <a:endParaRPr lang="en-US" sz="1200" b="1" dirty="0">
              <a:latin typeface="Century Gothic (Body)"/>
            </a:endParaRPr>
          </a:p>
        </p:txBody>
      </p:sp>
      <p:sp>
        <p:nvSpPr>
          <p:cNvPr id="12" name="Text 8"/>
          <p:cNvSpPr/>
          <p:nvPr/>
        </p:nvSpPr>
        <p:spPr>
          <a:xfrm>
            <a:off x="3177718" y="1090576"/>
            <a:ext cx="2685604" cy="1585764"/>
          </a:xfrm>
          <a:prstGeom prst="roundRect">
            <a:avLst>
              <a:gd name="adj" fmla="val 5446"/>
            </a:avLst>
          </a:prstGeom>
          <a:solidFill>
            <a:srgbClr val="162A4A"/>
          </a:solidFill>
          <a:ln w="9525">
            <a:solidFill>
              <a:srgbClr val="D4A843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3358693" y="1300722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D4A843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49785" y="1391813"/>
            <a:ext cx="132588" cy="1325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358693" y="1729942"/>
            <a:ext cx="2556019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1400" b="1" kern="0" spc="7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SPAN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3358693" y="1923567"/>
            <a:ext cx="2486309" cy="251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800" b="1" dirty="0">
                <a:solidFill>
                  <a:srgbClr val="F0F4F8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2018 – 2021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3358692" y="2296004"/>
            <a:ext cx="2556019" cy="287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64"/>
              </a:lnSpc>
              <a:buNone/>
            </a:pPr>
            <a:r>
              <a:rPr lang="en-US" sz="1200" b="1" dirty="0">
                <a:solidFill>
                  <a:srgbClr val="8DA4BF"/>
                </a:solidFill>
                <a:latin typeface="Century Gothic (Body)"/>
                <a:ea typeface="Calibri" pitchFamily="34" charset="-122"/>
                <a:cs typeface="Calibri" pitchFamily="34" charset="-120"/>
              </a:rPr>
              <a:t>4 years of continuous parcel </a:t>
            </a:r>
          </a:p>
          <a:p>
            <a:pPr marL="0" indent="0" algn="l">
              <a:lnSpc>
                <a:spcPts val="1064"/>
              </a:lnSpc>
              <a:buNone/>
            </a:pPr>
            <a:r>
              <a:rPr lang="en-US" sz="1200" b="1" dirty="0">
                <a:solidFill>
                  <a:srgbClr val="8DA4BF"/>
                </a:solidFill>
                <a:latin typeface="Century Gothic (Body)"/>
                <a:ea typeface="Calibri" pitchFamily="34" charset="-122"/>
                <a:cs typeface="Calibri" pitchFamily="34" charset="-120"/>
              </a:rPr>
              <a:t>Delivery data</a:t>
            </a:r>
            <a:endParaRPr lang="en-US" sz="1200" b="1" dirty="0">
              <a:latin typeface="Century Gothic (Body)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5997267" y="1047416"/>
            <a:ext cx="2685752" cy="1585764"/>
          </a:xfrm>
          <a:prstGeom prst="roundRect">
            <a:avLst>
              <a:gd name="adj" fmla="val 5446"/>
            </a:avLst>
          </a:prstGeom>
          <a:solidFill>
            <a:schemeClr val="bg2"/>
          </a:solidFill>
          <a:ln w="9525">
            <a:solidFill>
              <a:srgbClr val="D4A843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6187767" y="1300722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D4A843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78858" y="1391813"/>
            <a:ext cx="132588" cy="13258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187767" y="1729942"/>
            <a:ext cx="2556183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1400" b="1" kern="0" spc="7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WEEKLY VOLUME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6187767" y="1923567"/>
            <a:ext cx="2486469" cy="251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800" b="1" dirty="0">
                <a:solidFill>
                  <a:srgbClr val="F0F4F8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1,175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6209392" y="2266029"/>
            <a:ext cx="2348654" cy="347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64"/>
              </a:lnSpc>
              <a:buNone/>
            </a:pPr>
            <a:r>
              <a:rPr lang="en-US" sz="1200" b="1" dirty="0">
                <a:solidFill>
                  <a:srgbClr val="8DA4BF"/>
                </a:solidFill>
                <a:latin typeface="Century Gothic (Body)"/>
                <a:ea typeface="Calibri" pitchFamily="34" charset="-122"/>
                <a:cs typeface="Calibri" pitchFamily="34" charset="-120"/>
              </a:rPr>
              <a:t>Parcels per customer-week</a:t>
            </a:r>
          </a:p>
          <a:p>
            <a:pPr marL="0" indent="0" algn="l">
              <a:lnSpc>
                <a:spcPts val="1064"/>
              </a:lnSpc>
              <a:buNone/>
            </a:pPr>
            <a:r>
              <a:rPr lang="en-US" sz="1200" b="1" dirty="0">
                <a:solidFill>
                  <a:srgbClr val="8DA4BF"/>
                </a:solidFill>
                <a:latin typeface="Century Gothic (Body)"/>
                <a:ea typeface="Calibri" pitchFamily="34" charset="-122"/>
                <a:cs typeface="Calibri" pitchFamily="34" charset="-120"/>
              </a:rPr>
              <a:t>(average)</a:t>
            </a:r>
            <a:endParaRPr lang="en-US" sz="1200" b="1" dirty="0">
              <a:latin typeface="Century Gothic (Body)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348644" y="2819810"/>
            <a:ext cx="2685604" cy="1721048"/>
          </a:xfrm>
          <a:prstGeom prst="roundRect">
            <a:avLst>
              <a:gd name="adj" fmla="val 5018"/>
            </a:avLst>
          </a:prstGeom>
          <a:solidFill>
            <a:srgbClr val="162A4A"/>
          </a:solidFill>
          <a:ln w="9525">
            <a:solidFill>
              <a:srgbClr val="D4A843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19"/>
          <p:cNvSpPr/>
          <p:nvPr/>
        </p:nvSpPr>
        <p:spPr>
          <a:xfrm>
            <a:off x="529619" y="3029956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D4A843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0711" y="3121047"/>
            <a:ext cx="132588" cy="13258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9619" y="3459176"/>
            <a:ext cx="2556019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1400" b="1" kern="0" spc="7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WEEKLY VOLUME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529619" y="3652801"/>
            <a:ext cx="2486309" cy="251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800" b="1" dirty="0">
                <a:solidFill>
                  <a:srgbClr val="F0F4F8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58</a:t>
            </a:r>
            <a:endParaRPr lang="en-US" sz="1800" dirty="0"/>
          </a:p>
        </p:txBody>
      </p:sp>
      <p:sp>
        <p:nvSpPr>
          <p:cNvPr id="29" name="Text 22"/>
          <p:cNvSpPr/>
          <p:nvPr/>
        </p:nvSpPr>
        <p:spPr>
          <a:xfrm>
            <a:off x="529619" y="4030316"/>
            <a:ext cx="2370127" cy="283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064"/>
              </a:lnSpc>
            </a:pPr>
            <a:r>
              <a:rPr lang="en-US" sz="1200" b="1" dirty="0">
                <a:solidFill>
                  <a:srgbClr val="8DA4BF"/>
                </a:solidFill>
              </a:rPr>
              <a:t>Right-skewed data — most customers ship below the average.</a:t>
            </a:r>
          </a:p>
        </p:txBody>
      </p:sp>
      <p:sp>
        <p:nvSpPr>
          <p:cNvPr id="30" name="Text 23"/>
          <p:cNvSpPr/>
          <p:nvPr/>
        </p:nvSpPr>
        <p:spPr>
          <a:xfrm>
            <a:off x="3177718" y="2819810"/>
            <a:ext cx="2685604" cy="1721048"/>
          </a:xfrm>
          <a:prstGeom prst="roundRect">
            <a:avLst>
              <a:gd name="adj" fmla="val 5018"/>
            </a:avLst>
          </a:prstGeom>
          <a:solidFill>
            <a:schemeClr val="bg2"/>
          </a:solidFill>
          <a:ln w="9525">
            <a:solidFill>
              <a:srgbClr val="D4A843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4"/>
          <p:cNvSpPr/>
          <p:nvPr/>
        </p:nvSpPr>
        <p:spPr>
          <a:xfrm>
            <a:off x="3358693" y="3029956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D4A843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49785" y="3121047"/>
            <a:ext cx="132588" cy="13258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358693" y="3459176"/>
            <a:ext cx="2556019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1400" b="1" kern="0" spc="7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WEEKLY VOLUME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3358693" y="3652801"/>
            <a:ext cx="2486309" cy="251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800" b="1" dirty="0">
                <a:solidFill>
                  <a:srgbClr val="F0F4F8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640,590</a:t>
            </a:r>
            <a:endParaRPr lang="en-US" sz="1800" dirty="0"/>
          </a:p>
        </p:txBody>
      </p:sp>
      <p:sp>
        <p:nvSpPr>
          <p:cNvPr id="35" name="Text 27"/>
          <p:cNvSpPr/>
          <p:nvPr/>
        </p:nvSpPr>
        <p:spPr>
          <a:xfrm>
            <a:off x="3307303" y="4048568"/>
            <a:ext cx="2556019" cy="366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64"/>
              </a:lnSpc>
              <a:buNone/>
            </a:pPr>
            <a:r>
              <a:rPr lang="en-US" sz="1200" b="1" dirty="0">
                <a:solidFill>
                  <a:srgbClr val="8DA4BF"/>
                </a:solidFill>
                <a:latin typeface="Century Gothic (Body)"/>
                <a:ea typeface="Calibri" pitchFamily="34" charset="-122"/>
                <a:cs typeface="Calibri" pitchFamily="34" charset="-120"/>
              </a:rPr>
              <a:t>Parcels in a single </a:t>
            </a:r>
          </a:p>
          <a:p>
            <a:pPr marL="0" indent="0" algn="l">
              <a:lnSpc>
                <a:spcPts val="1064"/>
              </a:lnSpc>
              <a:buNone/>
            </a:pPr>
            <a:r>
              <a:rPr lang="en-US" sz="1200" b="1" dirty="0">
                <a:solidFill>
                  <a:srgbClr val="8DA4BF"/>
                </a:solidFill>
                <a:latin typeface="Century Gothic (Body)"/>
                <a:ea typeface="Calibri" pitchFamily="34" charset="-122"/>
                <a:cs typeface="Calibri" pitchFamily="34" charset="-120"/>
              </a:rPr>
              <a:t>customer-week — extreme outlier</a:t>
            </a:r>
            <a:endParaRPr lang="en-US" sz="1200" b="1" dirty="0">
              <a:latin typeface="Century Gothic (Body)"/>
            </a:endParaRPr>
          </a:p>
        </p:txBody>
      </p:sp>
      <p:sp>
        <p:nvSpPr>
          <p:cNvPr id="36" name="Text 28"/>
          <p:cNvSpPr/>
          <p:nvPr/>
        </p:nvSpPr>
        <p:spPr>
          <a:xfrm>
            <a:off x="6006792" y="2819810"/>
            <a:ext cx="2685752" cy="1721048"/>
          </a:xfrm>
          <a:prstGeom prst="roundRect">
            <a:avLst>
              <a:gd name="adj" fmla="val 5018"/>
            </a:avLst>
          </a:prstGeom>
          <a:solidFill>
            <a:srgbClr val="162A4A"/>
          </a:solidFill>
          <a:ln w="9525">
            <a:solidFill>
              <a:srgbClr val="D4A843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29"/>
          <p:cNvSpPr/>
          <p:nvPr/>
        </p:nvSpPr>
        <p:spPr>
          <a:xfrm>
            <a:off x="6187767" y="3029956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D4A843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78858" y="3121047"/>
            <a:ext cx="132588" cy="132588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6187767" y="3459176"/>
            <a:ext cx="2556183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1400" b="1" kern="0" spc="7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</a:t>
            </a:r>
            <a:endParaRPr lang="en-US" sz="1400" dirty="0"/>
          </a:p>
        </p:txBody>
      </p:sp>
      <p:sp>
        <p:nvSpPr>
          <p:cNvPr id="40" name="Text 31"/>
          <p:cNvSpPr/>
          <p:nvPr/>
        </p:nvSpPr>
        <p:spPr>
          <a:xfrm>
            <a:off x="6187767" y="3652801"/>
            <a:ext cx="2486469" cy="251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800" b="1" dirty="0">
                <a:solidFill>
                  <a:srgbClr val="F0F4F8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11,587</a:t>
            </a:r>
            <a:endParaRPr lang="en-US" sz="1800" dirty="0"/>
          </a:p>
        </p:txBody>
      </p:sp>
      <p:sp>
        <p:nvSpPr>
          <p:cNvPr id="41" name="Text 32"/>
          <p:cNvSpPr/>
          <p:nvPr/>
        </p:nvSpPr>
        <p:spPr>
          <a:xfrm>
            <a:off x="6187767" y="4030316"/>
            <a:ext cx="2370278" cy="283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4"/>
              </a:lnSpc>
              <a:buNone/>
            </a:pPr>
            <a:r>
              <a:rPr lang="en-US" sz="1200" b="1" dirty="0">
                <a:solidFill>
                  <a:srgbClr val="8DA4BF"/>
                </a:solidFill>
                <a:latin typeface="Century Gothic (Body)"/>
                <a:ea typeface="Calibri" pitchFamily="34" charset="-122"/>
                <a:cs typeface="Calibri" pitchFamily="34" charset="-120"/>
              </a:rPr>
              <a:t>Massive variance across customers — signals diverse segment sizes</a:t>
            </a:r>
            <a:endParaRPr lang="en-US" sz="1200" b="1" dirty="0">
              <a:latin typeface="Century Gothic (Body)"/>
            </a:endParaRPr>
          </a:p>
        </p:txBody>
      </p:sp>
      <p:sp>
        <p:nvSpPr>
          <p:cNvPr id="45" name="Text 35"/>
          <p:cNvSpPr/>
          <p:nvPr/>
        </p:nvSpPr>
        <p:spPr>
          <a:xfrm>
            <a:off x="358169" y="1100101"/>
            <a:ext cx="2666552" cy="21580"/>
          </a:xfrm>
          <a:custGeom>
            <a:avLst/>
            <a:gdLst/>
            <a:ahLst/>
            <a:cxnLst/>
            <a:rect l="l" t="t" r="r" b="b"/>
            <a:pathLst>
              <a:path w="2666552" h="21580">
                <a:moveTo>
                  <a:pt x="86360" y="0"/>
                </a:moveTo>
                <a:lnTo>
                  <a:pt x="2580192" y="0"/>
                </a:lnTo>
                <a:lnTo>
                  <a:pt x="2601608" y="2698"/>
                </a:lnTo>
                <a:lnTo>
                  <a:pt x="2610238" y="5395"/>
                </a:lnTo>
                <a:lnTo>
                  <a:pt x="2616692" y="8093"/>
                </a:lnTo>
                <a:lnTo>
                  <a:pt x="2621992" y="10790"/>
                </a:lnTo>
                <a:lnTo>
                  <a:pt x="2626535" y="13488"/>
                </a:lnTo>
                <a:lnTo>
                  <a:pt x="2630526" y="16185"/>
                </a:lnTo>
                <a:lnTo>
                  <a:pt x="2634089" y="18883"/>
                </a:lnTo>
                <a:lnTo>
                  <a:pt x="2637303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D4A843"/>
              </a:gs>
              <a:gs pos="100000">
                <a:srgbClr val="D4A843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36"/>
          <p:cNvSpPr/>
          <p:nvPr/>
        </p:nvSpPr>
        <p:spPr>
          <a:xfrm>
            <a:off x="3187243" y="1100101"/>
            <a:ext cx="2666552" cy="21580"/>
          </a:xfrm>
          <a:custGeom>
            <a:avLst/>
            <a:gdLst/>
            <a:ahLst/>
            <a:cxnLst/>
            <a:rect l="l" t="t" r="r" b="b"/>
            <a:pathLst>
              <a:path w="2666552" h="21580">
                <a:moveTo>
                  <a:pt x="86360" y="0"/>
                </a:moveTo>
                <a:lnTo>
                  <a:pt x="2580192" y="0"/>
                </a:lnTo>
                <a:lnTo>
                  <a:pt x="2601608" y="2698"/>
                </a:lnTo>
                <a:lnTo>
                  <a:pt x="2610238" y="5395"/>
                </a:lnTo>
                <a:lnTo>
                  <a:pt x="2616692" y="8093"/>
                </a:lnTo>
                <a:lnTo>
                  <a:pt x="2621992" y="10790"/>
                </a:lnTo>
                <a:lnTo>
                  <a:pt x="2626535" y="13488"/>
                </a:lnTo>
                <a:lnTo>
                  <a:pt x="2630526" y="16185"/>
                </a:lnTo>
                <a:lnTo>
                  <a:pt x="2634089" y="18883"/>
                </a:lnTo>
                <a:lnTo>
                  <a:pt x="2637303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D4A843"/>
              </a:gs>
              <a:gs pos="100000">
                <a:srgbClr val="D4A843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37"/>
          <p:cNvSpPr/>
          <p:nvPr/>
        </p:nvSpPr>
        <p:spPr>
          <a:xfrm>
            <a:off x="6016317" y="1100101"/>
            <a:ext cx="2666705" cy="21580"/>
          </a:xfrm>
          <a:custGeom>
            <a:avLst/>
            <a:gdLst/>
            <a:ahLst/>
            <a:cxnLst/>
            <a:rect l="l" t="t" r="r" b="b"/>
            <a:pathLst>
              <a:path w="2666705" h="21580">
                <a:moveTo>
                  <a:pt x="86360" y="0"/>
                </a:moveTo>
                <a:lnTo>
                  <a:pt x="2580345" y="0"/>
                </a:lnTo>
                <a:lnTo>
                  <a:pt x="2601760" y="2698"/>
                </a:lnTo>
                <a:lnTo>
                  <a:pt x="2610390" y="5395"/>
                </a:lnTo>
                <a:lnTo>
                  <a:pt x="2616845" y="8093"/>
                </a:lnTo>
                <a:lnTo>
                  <a:pt x="2622145" y="10790"/>
                </a:lnTo>
                <a:lnTo>
                  <a:pt x="2626687" y="13488"/>
                </a:lnTo>
                <a:lnTo>
                  <a:pt x="2630679" y="16185"/>
                </a:lnTo>
                <a:lnTo>
                  <a:pt x="2634241" y="18883"/>
                </a:lnTo>
                <a:lnTo>
                  <a:pt x="2637455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D4A843"/>
              </a:gs>
              <a:gs pos="100000">
                <a:srgbClr val="D4A843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38"/>
          <p:cNvSpPr/>
          <p:nvPr/>
        </p:nvSpPr>
        <p:spPr>
          <a:xfrm>
            <a:off x="358169" y="2829335"/>
            <a:ext cx="2666552" cy="21580"/>
          </a:xfrm>
          <a:custGeom>
            <a:avLst/>
            <a:gdLst/>
            <a:ahLst/>
            <a:cxnLst/>
            <a:rect l="l" t="t" r="r" b="b"/>
            <a:pathLst>
              <a:path w="2666552" h="21580">
                <a:moveTo>
                  <a:pt x="86360" y="0"/>
                </a:moveTo>
                <a:lnTo>
                  <a:pt x="2580192" y="0"/>
                </a:lnTo>
                <a:lnTo>
                  <a:pt x="2601608" y="2698"/>
                </a:lnTo>
                <a:lnTo>
                  <a:pt x="2610238" y="5395"/>
                </a:lnTo>
                <a:lnTo>
                  <a:pt x="2616692" y="8093"/>
                </a:lnTo>
                <a:lnTo>
                  <a:pt x="2621992" y="10790"/>
                </a:lnTo>
                <a:lnTo>
                  <a:pt x="2626535" y="13488"/>
                </a:lnTo>
                <a:lnTo>
                  <a:pt x="2630526" y="16185"/>
                </a:lnTo>
                <a:lnTo>
                  <a:pt x="2634089" y="18883"/>
                </a:lnTo>
                <a:lnTo>
                  <a:pt x="2637303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D4A843"/>
              </a:gs>
              <a:gs pos="100000">
                <a:srgbClr val="D4A843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39"/>
          <p:cNvSpPr/>
          <p:nvPr/>
        </p:nvSpPr>
        <p:spPr>
          <a:xfrm>
            <a:off x="3187243" y="2829335"/>
            <a:ext cx="2666552" cy="21580"/>
          </a:xfrm>
          <a:custGeom>
            <a:avLst/>
            <a:gdLst/>
            <a:ahLst/>
            <a:cxnLst/>
            <a:rect l="l" t="t" r="r" b="b"/>
            <a:pathLst>
              <a:path w="2666552" h="21580">
                <a:moveTo>
                  <a:pt x="86360" y="0"/>
                </a:moveTo>
                <a:lnTo>
                  <a:pt x="2580192" y="0"/>
                </a:lnTo>
                <a:lnTo>
                  <a:pt x="2601608" y="2698"/>
                </a:lnTo>
                <a:lnTo>
                  <a:pt x="2610238" y="5395"/>
                </a:lnTo>
                <a:lnTo>
                  <a:pt x="2616692" y="8093"/>
                </a:lnTo>
                <a:lnTo>
                  <a:pt x="2621992" y="10790"/>
                </a:lnTo>
                <a:lnTo>
                  <a:pt x="2626535" y="13488"/>
                </a:lnTo>
                <a:lnTo>
                  <a:pt x="2630526" y="16185"/>
                </a:lnTo>
                <a:lnTo>
                  <a:pt x="2634089" y="18883"/>
                </a:lnTo>
                <a:lnTo>
                  <a:pt x="2637303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D4A843"/>
              </a:gs>
              <a:gs pos="100000">
                <a:srgbClr val="D4A843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0"/>
          <p:cNvSpPr/>
          <p:nvPr/>
        </p:nvSpPr>
        <p:spPr>
          <a:xfrm>
            <a:off x="6016317" y="2829335"/>
            <a:ext cx="2666705" cy="21580"/>
          </a:xfrm>
          <a:custGeom>
            <a:avLst/>
            <a:gdLst/>
            <a:ahLst/>
            <a:cxnLst/>
            <a:rect l="l" t="t" r="r" b="b"/>
            <a:pathLst>
              <a:path w="2666705" h="21580">
                <a:moveTo>
                  <a:pt x="86360" y="0"/>
                </a:moveTo>
                <a:lnTo>
                  <a:pt x="2580345" y="0"/>
                </a:lnTo>
                <a:lnTo>
                  <a:pt x="2601760" y="2698"/>
                </a:lnTo>
                <a:lnTo>
                  <a:pt x="2610390" y="5395"/>
                </a:lnTo>
                <a:lnTo>
                  <a:pt x="2616845" y="8093"/>
                </a:lnTo>
                <a:lnTo>
                  <a:pt x="2622145" y="10790"/>
                </a:lnTo>
                <a:lnTo>
                  <a:pt x="2626687" y="13488"/>
                </a:lnTo>
                <a:lnTo>
                  <a:pt x="2630679" y="16185"/>
                </a:lnTo>
                <a:lnTo>
                  <a:pt x="2634241" y="18883"/>
                </a:lnTo>
                <a:lnTo>
                  <a:pt x="2637455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D4A843"/>
              </a:gs>
              <a:gs pos="100000">
                <a:srgbClr val="D4A843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71475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D4A843">
              <a:alpha val="1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707" y="447982"/>
            <a:ext cx="132588" cy="1325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3260" y="342900"/>
            <a:ext cx="404835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b="1" kern="0" spc="-30" dirty="0">
                <a:solidFill>
                  <a:srgbClr val="F0F4F8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Industry Standard Growth Rate (ISGR)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43260" y="742950"/>
            <a:ext cx="862789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kern="0" spc="20" dirty="0">
                <a:solidFill>
                  <a:srgbClr val="8D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Pre-COVID Baseline Comparison · Weeks 1–15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76250" y="4336256"/>
            <a:ext cx="8229600" cy="537139"/>
          </a:xfrm>
          <a:prstGeom prst="rect">
            <a:avLst/>
          </a:prstGeom>
          <a:solidFill>
            <a:srgbClr val="8DA4BF">
              <a:alpha val="6000"/>
            </a:srgbClr>
          </a:solidFill>
          <a:ln/>
        </p:spPr>
        <p:txBody>
          <a:bodyPr wrap="square" lIns="143510" tIns="100330" rIns="143510" bIns="10033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ISGR</a:t>
            </a:r>
            <a:r>
              <a:rPr lang="en-US" sz="1100" b="1" dirty="0">
                <a:solidFill>
                  <a:srgbClr val="8D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represents the baseline "normal" growth rate established before the pandemic disrupted volumes (Weeks 1–15 only). This rate is used to classify customer growth status — distinguishing organic growth from COVID-driven acceleration — during the observation period (Weeks 11–53, 2020).</a:t>
            </a:r>
            <a:endParaRPr lang="en-US" sz="1100" b="1" dirty="0"/>
          </a:p>
        </p:txBody>
      </p:sp>
      <p:sp>
        <p:nvSpPr>
          <p:cNvPr id="7" name="Text 4"/>
          <p:cNvSpPr/>
          <p:nvPr/>
        </p:nvSpPr>
        <p:spPr>
          <a:xfrm>
            <a:off x="457200" y="4336256"/>
            <a:ext cx="19050" cy="521494"/>
          </a:xfrm>
          <a:prstGeom prst="rect">
            <a:avLst/>
          </a:prstGeom>
          <a:solidFill>
            <a:srgbClr val="D4A84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02320" y="1793825"/>
            <a:ext cx="2429470" cy="1749177"/>
          </a:xfrm>
          <a:prstGeom prst="roundRect">
            <a:avLst>
              <a:gd name="adj" fmla="val 6535"/>
            </a:avLst>
          </a:prstGeom>
          <a:solidFill>
            <a:schemeClr val="bg2"/>
          </a:solidFill>
          <a:ln w="9525">
            <a:solidFill>
              <a:srgbClr val="8DA4BF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1169" y="2088530"/>
            <a:ext cx="132588" cy="1325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02695" y="2089100"/>
            <a:ext cx="1607314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95"/>
              </a:lnSpc>
              <a:buNone/>
            </a:pPr>
            <a:r>
              <a:rPr lang="en-US" sz="1200" b="1" dirty="0">
                <a:solidFill>
                  <a:srgbClr val="8D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 PRE-COVID VOLUME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922243" y="2371576"/>
            <a:ext cx="1989624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80"/>
              </a:lnSpc>
              <a:buNone/>
            </a:pPr>
            <a:r>
              <a:rPr lang="en-US" sz="2480" b="1" dirty="0">
                <a:solidFill>
                  <a:srgbClr val="F0F4F8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13,122,816</a:t>
            </a:r>
            <a:endParaRPr lang="en-US" sz="2480" dirty="0"/>
          </a:p>
        </p:txBody>
      </p:sp>
      <p:sp>
        <p:nvSpPr>
          <p:cNvPr id="12" name="Text 8"/>
          <p:cNvSpPr/>
          <p:nvPr/>
        </p:nvSpPr>
        <p:spPr>
          <a:xfrm>
            <a:off x="874871" y="2729657"/>
            <a:ext cx="2084368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1200" b="1" dirty="0">
                <a:solidFill>
                  <a:srgbClr val="8D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parcels</a:t>
            </a:r>
            <a:endParaRPr lang="en-US" sz="1200" b="1" dirty="0"/>
          </a:p>
        </p:txBody>
      </p:sp>
      <p:sp>
        <p:nvSpPr>
          <p:cNvPr id="13" name="Text 9"/>
          <p:cNvSpPr/>
          <p:nvPr/>
        </p:nvSpPr>
        <p:spPr>
          <a:xfrm>
            <a:off x="969615" y="3003947"/>
            <a:ext cx="1894880" cy="57150"/>
          </a:xfrm>
          <a:prstGeom prst="roundRect">
            <a:avLst>
              <a:gd name="adj" fmla="val 51111"/>
            </a:avLst>
          </a:prstGeom>
          <a:solidFill>
            <a:srgbClr val="8DA4BF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969615" y="3003947"/>
            <a:ext cx="1701552" cy="57150"/>
          </a:xfrm>
          <a:prstGeom prst="roundRect">
            <a:avLst>
              <a:gd name="adj" fmla="val 51111"/>
            </a:avLst>
          </a:prstGeom>
          <a:gradFill rotWithShape="1">
            <a:gsLst>
              <a:gs pos="0">
                <a:srgbClr val="6B8AAA"/>
              </a:gs>
              <a:gs pos="100000">
                <a:srgbClr val="8DA4BF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780127" y="3118247"/>
            <a:ext cx="2084368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020"/>
              </a:lnSpc>
              <a:buNone/>
            </a:pPr>
            <a:r>
              <a:rPr lang="en-US" sz="680" dirty="0">
                <a:solidFill>
                  <a:srgbClr val="8D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1–15 baseline</a:t>
            </a:r>
            <a:endParaRPr lang="en-US" sz="680" dirty="0"/>
          </a:p>
        </p:txBody>
      </p:sp>
      <p:sp>
        <p:nvSpPr>
          <p:cNvPr id="16" name="Text 12"/>
          <p:cNvSpPr/>
          <p:nvPr/>
        </p:nvSpPr>
        <p:spPr>
          <a:xfrm>
            <a:off x="6021735" y="1760041"/>
            <a:ext cx="2429470" cy="1749177"/>
          </a:xfrm>
          <a:prstGeom prst="roundRect">
            <a:avLst>
              <a:gd name="adj" fmla="val 6535"/>
            </a:avLst>
          </a:prstGeom>
          <a:solidFill>
            <a:srgbClr val="162A4A"/>
          </a:solidFill>
          <a:ln w="9525">
            <a:solidFill>
              <a:srgbClr val="8DA4BF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28264" y="2092235"/>
            <a:ext cx="132588" cy="1325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12585" y="2089100"/>
            <a:ext cx="1607314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95"/>
              </a:lnSpc>
              <a:buNone/>
            </a:pPr>
            <a:r>
              <a:rPr lang="en-US" sz="1200" b="1" dirty="0">
                <a:solidFill>
                  <a:srgbClr val="8D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PRE-COVID VOLUME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232133" y="2371576"/>
            <a:ext cx="1989624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80"/>
              </a:lnSpc>
              <a:buNone/>
            </a:pPr>
            <a:r>
              <a:rPr lang="en-US" sz="2480" b="1" dirty="0">
                <a:solidFill>
                  <a:srgbClr val="F0F4F8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14,619,017</a:t>
            </a:r>
            <a:endParaRPr lang="en-US" sz="2480" dirty="0"/>
          </a:p>
        </p:txBody>
      </p:sp>
      <p:sp>
        <p:nvSpPr>
          <p:cNvPr id="20" name="Text 15"/>
          <p:cNvSpPr/>
          <p:nvPr/>
        </p:nvSpPr>
        <p:spPr>
          <a:xfrm>
            <a:off x="6184761" y="2729657"/>
            <a:ext cx="2084368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1200" b="1" dirty="0">
                <a:solidFill>
                  <a:srgbClr val="8D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parcels</a:t>
            </a:r>
            <a:endParaRPr lang="en-US" sz="1200" b="1" dirty="0"/>
          </a:p>
        </p:txBody>
      </p:sp>
      <p:sp>
        <p:nvSpPr>
          <p:cNvPr id="21" name="Text 16"/>
          <p:cNvSpPr/>
          <p:nvPr/>
        </p:nvSpPr>
        <p:spPr>
          <a:xfrm>
            <a:off x="6279505" y="3003947"/>
            <a:ext cx="1894880" cy="57150"/>
          </a:xfrm>
          <a:prstGeom prst="roundRect">
            <a:avLst>
              <a:gd name="adj" fmla="val 51111"/>
            </a:avLst>
          </a:prstGeom>
          <a:solidFill>
            <a:srgbClr val="D4A843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6279505" y="3003947"/>
            <a:ext cx="1894880" cy="57150"/>
          </a:xfrm>
          <a:custGeom>
            <a:avLst/>
            <a:gdLst/>
            <a:ahLst/>
            <a:cxnLst/>
            <a:rect l="l" t="t" r="r" b="b"/>
            <a:pathLst>
              <a:path w="1894880" h="57150">
                <a:moveTo>
                  <a:pt x="29210" y="0"/>
                </a:moveTo>
                <a:lnTo>
                  <a:pt x="23511" y="561"/>
                </a:lnTo>
                <a:lnTo>
                  <a:pt x="18032" y="2223"/>
                </a:lnTo>
                <a:lnTo>
                  <a:pt x="12982" y="4923"/>
                </a:lnTo>
                <a:lnTo>
                  <a:pt x="8555" y="8555"/>
                </a:lnTo>
                <a:lnTo>
                  <a:pt x="4923" y="12982"/>
                </a:lnTo>
                <a:lnTo>
                  <a:pt x="2223" y="18032"/>
                </a:lnTo>
                <a:lnTo>
                  <a:pt x="561" y="23511"/>
                </a:lnTo>
                <a:lnTo>
                  <a:pt x="0" y="29210"/>
                </a:lnTo>
                <a:lnTo>
                  <a:pt x="0" y="27940"/>
                </a:lnTo>
                <a:lnTo>
                  <a:pt x="561" y="33639"/>
                </a:lnTo>
                <a:lnTo>
                  <a:pt x="2223" y="39118"/>
                </a:lnTo>
                <a:lnTo>
                  <a:pt x="4923" y="44168"/>
                </a:lnTo>
                <a:lnTo>
                  <a:pt x="8555" y="48595"/>
                </a:lnTo>
                <a:lnTo>
                  <a:pt x="12982" y="52227"/>
                </a:lnTo>
                <a:lnTo>
                  <a:pt x="18032" y="54927"/>
                </a:lnTo>
                <a:lnTo>
                  <a:pt x="23511" y="56589"/>
                </a:lnTo>
                <a:lnTo>
                  <a:pt x="29210" y="57150"/>
                </a:lnTo>
                <a:lnTo>
                  <a:pt x="1865670" y="57150"/>
                </a:lnTo>
                <a:lnTo>
                  <a:pt x="1871368" y="56589"/>
                </a:lnTo>
                <a:lnTo>
                  <a:pt x="1876848" y="54927"/>
                </a:lnTo>
                <a:lnTo>
                  <a:pt x="1881898" y="52227"/>
                </a:lnTo>
                <a:lnTo>
                  <a:pt x="1886324" y="48595"/>
                </a:lnTo>
                <a:lnTo>
                  <a:pt x="1889957" y="44168"/>
                </a:lnTo>
                <a:lnTo>
                  <a:pt x="1892656" y="39118"/>
                </a:lnTo>
                <a:lnTo>
                  <a:pt x="1894318" y="33639"/>
                </a:lnTo>
                <a:lnTo>
                  <a:pt x="1894880" y="27940"/>
                </a:lnTo>
                <a:lnTo>
                  <a:pt x="1894880" y="29210"/>
                </a:lnTo>
                <a:lnTo>
                  <a:pt x="1894318" y="23511"/>
                </a:lnTo>
                <a:lnTo>
                  <a:pt x="1892656" y="18032"/>
                </a:lnTo>
                <a:lnTo>
                  <a:pt x="1889957" y="12982"/>
                </a:lnTo>
                <a:lnTo>
                  <a:pt x="1886324" y="8555"/>
                </a:lnTo>
                <a:lnTo>
                  <a:pt x="1881898" y="4923"/>
                </a:lnTo>
                <a:lnTo>
                  <a:pt x="1876848" y="2223"/>
                </a:lnTo>
                <a:lnTo>
                  <a:pt x="1871368" y="561"/>
                </a:lnTo>
                <a:lnTo>
                  <a:pt x="1865670" y="0"/>
                </a:lnTo>
                <a:close/>
              </a:path>
            </a:pathLst>
          </a:custGeom>
          <a:gradFill rotWithShape="1">
            <a:gsLst>
              <a:gs pos="0">
                <a:srgbClr val="D4A843"/>
              </a:gs>
              <a:gs pos="100000">
                <a:srgbClr val="E8C060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6090017" y="3118247"/>
            <a:ext cx="2084368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020"/>
              </a:lnSpc>
              <a:buNone/>
            </a:pPr>
            <a:r>
              <a:rPr lang="en-US" sz="1200" b="1" dirty="0">
                <a:solidFill>
                  <a:srgbClr val="8D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+1,496,201 vs 2019</a:t>
            </a:r>
            <a:endParaRPr lang="en-US" sz="1200" b="1" dirty="0"/>
          </a:p>
        </p:txBody>
      </p:sp>
      <p:sp>
        <p:nvSpPr>
          <p:cNvPr id="24" name="Text 19"/>
          <p:cNvSpPr/>
          <p:nvPr/>
        </p:nvSpPr>
        <p:spPr>
          <a:xfrm>
            <a:off x="711845" y="1803350"/>
            <a:ext cx="2410416" cy="29170"/>
          </a:xfrm>
          <a:custGeom>
            <a:avLst/>
            <a:gdLst/>
            <a:ahLst/>
            <a:cxnLst/>
            <a:rect l="l" t="t" r="r" b="b"/>
            <a:pathLst>
              <a:path w="2410416" h="29170">
                <a:moveTo>
                  <a:pt x="114300" y="0"/>
                </a:moveTo>
                <a:lnTo>
                  <a:pt x="2296116" y="0"/>
                </a:lnTo>
                <a:lnTo>
                  <a:pt x="2324755" y="3646"/>
                </a:lnTo>
                <a:lnTo>
                  <a:pt x="2336289" y="7293"/>
                </a:lnTo>
                <a:lnTo>
                  <a:pt x="2344911" y="10939"/>
                </a:lnTo>
                <a:lnTo>
                  <a:pt x="2351985" y="14585"/>
                </a:lnTo>
                <a:lnTo>
                  <a:pt x="2358046" y="18231"/>
                </a:lnTo>
                <a:lnTo>
                  <a:pt x="2363366" y="21878"/>
                </a:lnTo>
                <a:lnTo>
                  <a:pt x="2368111" y="25524"/>
                </a:lnTo>
                <a:lnTo>
                  <a:pt x="2372388" y="29170"/>
                </a:lnTo>
                <a:lnTo>
                  <a:pt x="38028" y="29170"/>
                </a:lnTo>
                <a:lnTo>
                  <a:pt x="42305" y="25524"/>
                </a:lnTo>
                <a:lnTo>
                  <a:pt x="47050" y="21878"/>
                </a:lnTo>
                <a:lnTo>
                  <a:pt x="52370" y="18231"/>
                </a:lnTo>
                <a:lnTo>
                  <a:pt x="58430" y="14585"/>
                </a:lnTo>
                <a:lnTo>
                  <a:pt x="65505" y="10939"/>
                </a:lnTo>
                <a:lnTo>
                  <a:pt x="74127" y="7293"/>
                </a:lnTo>
                <a:lnTo>
                  <a:pt x="85660" y="3646"/>
                </a:lnTo>
                <a:close/>
              </a:path>
            </a:pathLst>
          </a:custGeom>
          <a:gradFill rotWithShape="1">
            <a:gsLst>
              <a:gs pos="0">
                <a:srgbClr val="8DA4BF"/>
              </a:gs>
              <a:gs pos="100000">
                <a:srgbClr val="6B8AAA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6021735" y="1803350"/>
            <a:ext cx="2410416" cy="29170"/>
          </a:xfrm>
          <a:custGeom>
            <a:avLst/>
            <a:gdLst/>
            <a:ahLst/>
            <a:cxnLst/>
            <a:rect l="l" t="t" r="r" b="b"/>
            <a:pathLst>
              <a:path w="2410416" h="29170">
                <a:moveTo>
                  <a:pt x="114300" y="0"/>
                </a:moveTo>
                <a:lnTo>
                  <a:pt x="2296116" y="0"/>
                </a:lnTo>
                <a:lnTo>
                  <a:pt x="2324755" y="3646"/>
                </a:lnTo>
                <a:lnTo>
                  <a:pt x="2336289" y="7293"/>
                </a:lnTo>
                <a:lnTo>
                  <a:pt x="2344911" y="10939"/>
                </a:lnTo>
                <a:lnTo>
                  <a:pt x="2351985" y="14585"/>
                </a:lnTo>
                <a:lnTo>
                  <a:pt x="2358046" y="18231"/>
                </a:lnTo>
                <a:lnTo>
                  <a:pt x="2363366" y="21878"/>
                </a:lnTo>
                <a:lnTo>
                  <a:pt x="2368111" y="25524"/>
                </a:lnTo>
                <a:lnTo>
                  <a:pt x="2372388" y="29170"/>
                </a:lnTo>
                <a:lnTo>
                  <a:pt x="38028" y="29170"/>
                </a:lnTo>
                <a:lnTo>
                  <a:pt x="42305" y="25524"/>
                </a:lnTo>
                <a:lnTo>
                  <a:pt x="47050" y="21878"/>
                </a:lnTo>
                <a:lnTo>
                  <a:pt x="52370" y="18231"/>
                </a:lnTo>
                <a:lnTo>
                  <a:pt x="58430" y="14585"/>
                </a:lnTo>
                <a:lnTo>
                  <a:pt x="65505" y="10939"/>
                </a:lnTo>
                <a:lnTo>
                  <a:pt x="74127" y="7293"/>
                </a:lnTo>
                <a:lnTo>
                  <a:pt x="85660" y="3646"/>
                </a:lnTo>
                <a:close/>
              </a:path>
            </a:pathLst>
          </a:custGeom>
          <a:gradFill rotWithShape="1">
            <a:gsLst>
              <a:gs pos="0">
                <a:srgbClr val="D4A843"/>
              </a:gs>
              <a:gs pos="100000">
                <a:srgbClr val="E8C060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1"/>
          <p:cNvSpPr/>
          <p:nvPr/>
        </p:nvSpPr>
        <p:spPr>
          <a:xfrm>
            <a:off x="3131790" y="2668339"/>
            <a:ext cx="342900" cy="13841"/>
          </a:xfrm>
          <a:prstGeom prst="rect">
            <a:avLst/>
          </a:prstGeom>
          <a:gradFill rotWithShape="1">
            <a:gsLst>
              <a:gs pos="0">
                <a:srgbClr val="8DA4BF">
                  <a:alpha val="40000"/>
                </a:srgbClr>
              </a:gs>
              <a:gs pos="100000">
                <a:srgbClr val="D4A843">
                  <a:alpha val="6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2"/>
          <p:cNvSpPr/>
          <p:nvPr/>
        </p:nvSpPr>
        <p:spPr>
          <a:xfrm>
            <a:off x="5669310" y="2668339"/>
            <a:ext cx="342900" cy="13841"/>
          </a:xfrm>
          <a:prstGeom prst="rect">
            <a:avLst/>
          </a:prstGeom>
          <a:gradFill rotWithShape="1">
            <a:gsLst>
              <a:gs pos="0">
                <a:srgbClr val="D4A843">
                  <a:alpha val="60000"/>
                </a:srgbClr>
              </a:gs>
              <a:gs pos="100000">
                <a:srgbClr val="D4A843">
                  <a:alpha val="80000"/>
                </a:srgbClr>
              </a:gs>
            </a:gsLst>
            <a:lin ang="108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3"/>
          <p:cNvSpPr/>
          <p:nvPr/>
        </p:nvSpPr>
        <p:spPr>
          <a:xfrm>
            <a:off x="3474690" y="1926878"/>
            <a:ext cx="2194620" cy="1491258"/>
          </a:xfrm>
          <a:prstGeom prst="roundRect">
            <a:avLst>
              <a:gd name="adj" fmla="val 8823"/>
            </a:avLst>
          </a:prstGeom>
          <a:gradFill rotWithShape="1">
            <a:gsLst>
              <a:gs pos="0">
                <a:srgbClr val="D4A843">
                  <a:alpha val="12000"/>
                </a:srgbClr>
              </a:gs>
              <a:gs pos="100000">
                <a:srgbClr val="D4A843">
                  <a:alpha val="6000"/>
                </a:srgbClr>
              </a:gs>
            </a:gsLst>
            <a:lin ang="2700000" scaled="1"/>
          </a:gradFill>
          <a:ln w="9525">
            <a:solidFill>
              <a:srgbClr val="D4A843"/>
            </a:solidFill>
          </a:ln>
        </p:spPr>
        <p:txBody>
          <a:bodyPr wrap="square" lIns="457200" tIns="200660" rIns="457200" bIns="200660" rtlCol="0" anchor="t"/>
          <a:lstStyle/>
          <a:p>
            <a:pPr marL="0" indent="0" algn="ctr">
              <a:buNone/>
            </a:pPr>
            <a:r>
              <a:rPr lang="en-US" sz="1200" b="1" kern="0" spc="170" dirty="0">
                <a:solidFill>
                  <a:srgbClr val="8D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RATE</a:t>
            </a:r>
            <a:endParaRPr lang="en-US" sz="1200" b="1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D4A843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11.40</a:t>
            </a:r>
            <a:endParaRPr lang="en-US" sz="680" dirty="0"/>
          </a:p>
          <a:p>
            <a:pPr marL="0" indent="0" algn="ctr">
              <a:buNone/>
            </a:pPr>
            <a:r>
              <a:rPr lang="en-US" sz="2030" b="1" dirty="0">
                <a:solidFill>
                  <a:srgbClr val="D4A843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%</a:t>
            </a:r>
            <a:endParaRPr lang="en-US" sz="680" dirty="0"/>
          </a:p>
          <a:p>
            <a:pPr marL="0" indent="0" algn="ctr">
              <a:buNone/>
            </a:pPr>
            <a:r>
              <a:rPr lang="en-US" sz="790" kern="0" spc="60" dirty="0">
                <a:solidFill>
                  <a:srgbClr val="8D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ISGR</a:t>
            </a:r>
            <a:endParaRPr lang="en-US" sz="68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86074" y="3607382"/>
            <a:ext cx="132588" cy="13258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4042045" y="3607382"/>
            <a:ext cx="1098009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Year-over-Year Growth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328315"/>
            <a:ext cx="29170" cy="257770"/>
          </a:xfrm>
          <a:prstGeom prst="roundRect">
            <a:avLst>
              <a:gd name="adj" fmla="val 47892"/>
            </a:avLst>
          </a:prstGeom>
          <a:solidFill>
            <a:srgbClr val="D4A84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5541" y="285750"/>
            <a:ext cx="378368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b="1" kern="0" spc="-30" dirty="0">
                <a:solidFill>
                  <a:srgbClr val="F0F4F8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When Were Volumes First Impacted?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14350" y="671810"/>
            <a:ext cx="90525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8D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Timeline Events in Canada &amp; Their Impact on Parcel Delivery Volumes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 rot="16200000" flipH="1">
            <a:off x="4388912" y="-534233"/>
            <a:ext cx="45719" cy="6554665"/>
          </a:xfrm>
          <a:prstGeom prst="rect">
            <a:avLst/>
          </a:prstGeom>
          <a:gradFill rotWithShape="1">
            <a:gsLst>
              <a:gs pos="0">
                <a:srgbClr val="D4A843"/>
              </a:gs>
              <a:gs pos="100000">
                <a:srgbClr val="D4A843">
                  <a:alpha val="2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13874" y="996385"/>
            <a:ext cx="1857970" cy="1532629"/>
          </a:xfrm>
          <a:prstGeom prst="roundRect">
            <a:avLst>
              <a:gd name="adj" fmla="val 5804"/>
            </a:avLst>
          </a:prstGeom>
          <a:solidFill>
            <a:srgbClr val="162A4A"/>
          </a:solidFill>
          <a:ln w="9525">
            <a:solidFill>
              <a:srgbClr val="D4A843">
                <a:alpha val="50000"/>
              </a:srgbClr>
            </a:solidFill>
          </a:ln>
          <a:effectLst>
            <a:outerShdw blurRad="143510" dist="50800" dir="16200000" algn="bl" rotWithShape="0">
              <a:srgbClr val="D4A843">
                <a:alpha val="12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1A5B1828-2CF6-FE62-9E72-936765328253}"/>
              </a:ext>
            </a:extLst>
          </p:cNvPr>
          <p:cNvGrpSpPr/>
          <p:nvPr/>
        </p:nvGrpSpPr>
        <p:grpSpPr>
          <a:xfrm>
            <a:off x="372654" y="1126738"/>
            <a:ext cx="291676" cy="292771"/>
            <a:chOff x="22198" y="1643804"/>
            <a:chExt cx="291676" cy="292771"/>
          </a:xfrm>
        </p:grpSpPr>
        <p:sp>
          <p:nvSpPr>
            <p:cNvPr id="53" name="Text 15">
              <a:extLst>
                <a:ext uri="{FF2B5EF4-FFF2-40B4-BE49-F238E27FC236}">
                  <a16:creationId xmlns:a16="http://schemas.microsoft.com/office/drawing/2014/main" id="{1807A5EE-AB3C-41EC-55EE-153701D31105}"/>
                </a:ext>
              </a:extLst>
            </p:cNvPr>
            <p:cNvSpPr/>
            <p:nvPr/>
          </p:nvSpPr>
          <p:spPr>
            <a:xfrm>
              <a:off x="22198" y="1643804"/>
              <a:ext cx="291676" cy="292771"/>
            </a:xfrm>
            <a:prstGeom prst="roundRect">
              <a:avLst>
                <a:gd name="adj" fmla="val 25000"/>
              </a:avLst>
            </a:prstGeom>
            <a:solidFill>
              <a:srgbClr val="333D49"/>
            </a:solidFill>
            <a:ln/>
          </p:spPr>
          <p:txBody>
            <a:bodyPr wrap="none" rtlCol="0" anchor="t"/>
            <a:lstStyle/>
            <a:p>
              <a:pPr marL="0" indent="0">
                <a:buNone/>
              </a:pPr>
              <a:endParaRPr lang="en-US" dirty="0"/>
            </a:p>
          </p:txBody>
        </p:sp>
        <p:pic>
          <p:nvPicPr>
            <p:cNvPr id="8" name="Image 0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8644" y="1700404"/>
              <a:ext cx="164862" cy="165823"/>
            </a:xfrm>
            <a:prstGeom prst="rect">
              <a:avLst/>
            </a:prstGeom>
          </p:spPr>
        </p:pic>
      </p:grpSp>
      <p:sp>
        <p:nvSpPr>
          <p:cNvPr id="10" name="Text 7"/>
          <p:cNvSpPr/>
          <p:nvPr/>
        </p:nvSpPr>
        <p:spPr>
          <a:xfrm>
            <a:off x="463005" y="1537038"/>
            <a:ext cx="1740902" cy="166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b="1">
                <a:solidFill>
                  <a:srgbClr val="F0F4F8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WHO Declares Global </a:t>
            </a:r>
          </a:p>
          <a:p>
            <a:pPr marL="0" indent="0" algn="l">
              <a:lnSpc>
                <a:spcPts val="1050"/>
              </a:lnSpc>
              <a:buNone/>
            </a:pPr>
            <a:r>
              <a:rPr lang="en-US" sz="1000" b="1">
                <a:solidFill>
                  <a:srgbClr val="F0F4F8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Pandemic</a:t>
            </a:r>
            <a:endParaRPr lang="en-US" sz="1000"/>
          </a:p>
        </p:txBody>
      </p:sp>
      <p:sp>
        <p:nvSpPr>
          <p:cNvPr id="11" name="Text 8"/>
          <p:cNvSpPr/>
          <p:nvPr/>
        </p:nvSpPr>
        <p:spPr>
          <a:xfrm>
            <a:off x="463005" y="1981940"/>
            <a:ext cx="1614291" cy="51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022"/>
              </a:lnSpc>
            </a:pPr>
            <a:r>
              <a:rPr lang="en-US" sz="700" b="1" dirty="0">
                <a:solidFill>
                  <a:srgbClr val="8DA4BF"/>
                </a:solidFill>
              </a:rPr>
              <a:t>Initial disruption as supply chains and consumer behavior shifted.</a:t>
            </a:r>
            <a:endParaRPr lang="en-US" sz="600" b="1" dirty="0">
              <a:solidFill>
                <a:srgbClr val="8DA4BF"/>
              </a:solidFill>
            </a:endParaRPr>
          </a:p>
        </p:txBody>
      </p:sp>
      <p:sp>
        <p:nvSpPr>
          <p:cNvPr id="39" name="Text 31"/>
          <p:cNvSpPr/>
          <p:nvPr/>
        </p:nvSpPr>
        <p:spPr>
          <a:xfrm>
            <a:off x="2173779" y="1167821"/>
            <a:ext cx="57150" cy="14295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96393" y="1148577"/>
            <a:ext cx="1740902" cy="17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1200" b="1" kern="0" spc="60" dirty="0">
                <a:solidFill>
                  <a:srgbClr val="D4A843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WEEK 11  </a:t>
            </a:r>
          </a:p>
          <a:p>
            <a:pPr marL="0" indent="0" algn="l">
              <a:lnSpc>
                <a:spcPts val="1095"/>
              </a:lnSpc>
              <a:buNone/>
            </a:pPr>
            <a:r>
              <a:rPr lang="en-US" sz="1200" b="1" kern="0" spc="60" dirty="0">
                <a:solidFill>
                  <a:srgbClr val="D4A843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MARCH 11, 2020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588253" y="1041436"/>
            <a:ext cx="1852272" cy="1569449"/>
          </a:xfrm>
          <a:prstGeom prst="roundRect">
            <a:avLst>
              <a:gd name="adj" fmla="val 5804"/>
            </a:avLst>
          </a:prstGeom>
          <a:solidFill>
            <a:srgbClr val="162A4A"/>
          </a:solidFill>
          <a:ln w="9525">
            <a:solidFill>
              <a:srgbClr val="D4A843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3693288" y="1186532"/>
            <a:ext cx="291676" cy="292771"/>
          </a:xfrm>
          <a:prstGeom prst="roundRect">
            <a:avLst>
              <a:gd name="adj" fmla="val 25000"/>
            </a:avLst>
          </a:prstGeom>
          <a:solidFill>
            <a:srgbClr val="48BB78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1148" y="1246755"/>
            <a:ext cx="132181" cy="16980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040573" y="1270774"/>
            <a:ext cx="1735563" cy="178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1200" b="1" kern="0" spc="60" dirty="0">
                <a:solidFill>
                  <a:srgbClr val="D4A843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APRIL 2020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3752441" y="1551148"/>
            <a:ext cx="1735563" cy="170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b="1" dirty="0">
                <a:solidFill>
                  <a:srgbClr val="F0F4F8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E-Commerce Surge Begins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3753197" y="1783316"/>
            <a:ext cx="1609340" cy="523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2"/>
              </a:lnSpc>
              <a:buNone/>
            </a:pPr>
            <a:r>
              <a:rPr lang="en-US" sz="700" b="1" dirty="0">
                <a:solidFill>
                  <a:srgbClr val="8DA4BF"/>
                </a:solidFill>
              </a:rPr>
              <a:t>Consumers shift to online shopping en masse; parcel volumes begin surging well above 2019 levels.</a:t>
            </a:r>
          </a:p>
        </p:txBody>
      </p:sp>
      <p:sp>
        <p:nvSpPr>
          <p:cNvPr id="38" name="Text 30"/>
          <p:cNvSpPr/>
          <p:nvPr/>
        </p:nvSpPr>
        <p:spPr>
          <a:xfrm>
            <a:off x="789831" y="4817120"/>
            <a:ext cx="740202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840" b="1" dirty="0">
                <a:solidFill>
                  <a:srgbClr val="D4A843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Key Finding:</a:t>
            </a: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9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 volumes were first impacted around </a:t>
            </a:r>
            <a:r>
              <a:rPr lang="en-US" sz="79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11 of 2020</a:t>
            </a:r>
            <a:r>
              <a:rPr lang="en-US" sz="79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coinciding directly with the WHO pandemic declaration on March 11, 2020.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927125" y="2938496"/>
            <a:ext cx="1857970" cy="1488579"/>
          </a:xfrm>
          <a:prstGeom prst="roundRect">
            <a:avLst>
              <a:gd name="adj" fmla="val 4778"/>
            </a:avLst>
          </a:prstGeom>
          <a:solidFill>
            <a:srgbClr val="162A4A"/>
          </a:solidFill>
          <a:ln w="9525">
            <a:solidFill>
              <a:srgbClr val="D4A843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2023110" y="3068311"/>
            <a:ext cx="255899" cy="244245"/>
          </a:xfrm>
          <a:prstGeom prst="roundRect">
            <a:avLst>
              <a:gd name="adj" fmla="val 25000"/>
            </a:avLst>
          </a:prstGeom>
          <a:solidFill>
            <a:srgbClr val="DC5046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85389" y="3113607"/>
            <a:ext cx="132031" cy="1444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361921" y="3084671"/>
            <a:ext cx="174090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1200" b="1" kern="0" spc="60" dirty="0">
                <a:solidFill>
                  <a:srgbClr val="D4A843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MID-MARCH </a:t>
            </a:r>
          </a:p>
          <a:p>
            <a:pPr marL="0" indent="0" algn="l">
              <a:lnSpc>
                <a:spcPts val="1095"/>
              </a:lnSpc>
              <a:buNone/>
            </a:pPr>
            <a:r>
              <a:rPr lang="en-US" sz="1200" b="1" kern="0" spc="60" dirty="0">
                <a:solidFill>
                  <a:srgbClr val="D4A843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2020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085389" y="3412698"/>
            <a:ext cx="1614291" cy="280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b="1" dirty="0">
                <a:solidFill>
                  <a:srgbClr val="F0F4F8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Provincial Emergencies &amp; Lockdowns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2085315" y="3802929"/>
            <a:ext cx="1614291" cy="545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022"/>
              </a:lnSpc>
            </a:pPr>
            <a:r>
              <a:rPr lang="en-US" sz="700" b="1" dirty="0">
                <a:solidFill>
                  <a:srgbClr val="8DA4BF"/>
                </a:solidFill>
              </a:rPr>
              <a:t>Emergency measures and business closures disrupted shipping.</a:t>
            </a:r>
            <a:endParaRPr lang="en-US" sz="600" b="1" dirty="0">
              <a:solidFill>
                <a:srgbClr val="8DA4BF"/>
              </a:solidFill>
            </a:endParaRPr>
          </a:p>
        </p:txBody>
      </p:sp>
      <p:sp>
        <p:nvSpPr>
          <p:cNvPr id="40" name="Text 32"/>
          <p:cNvSpPr/>
          <p:nvPr/>
        </p:nvSpPr>
        <p:spPr>
          <a:xfrm>
            <a:off x="1900098" y="3326268"/>
            <a:ext cx="57150" cy="1143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3"/>
          <p:cNvSpPr/>
          <p:nvPr/>
        </p:nvSpPr>
        <p:spPr>
          <a:xfrm>
            <a:off x="4333870" y="2675172"/>
            <a:ext cx="57150" cy="1143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5096810" y="2916085"/>
            <a:ext cx="1930235" cy="1510990"/>
          </a:xfrm>
          <a:prstGeom prst="roundRect">
            <a:avLst>
              <a:gd name="adj" fmla="val 5248"/>
            </a:avLst>
          </a:prstGeom>
          <a:solidFill>
            <a:srgbClr val="162A4A"/>
          </a:solidFill>
          <a:ln w="9525">
            <a:solidFill>
              <a:srgbClr val="D4A843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5174638" y="2968196"/>
            <a:ext cx="277507" cy="277507"/>
          </a:xfrm>
          <a:prstGeom prst="roundRect">
            <a:avLst>
              <a:gd name="adj" fmla="val 25000"/>
            </a:avLst>
          </a:prstGeom>
          <a:solidFill>
            <a:srgbClr val="63B3ED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9413" y="3029596"/>
            <a:ext cx="147955" cy="14339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495183" y="3035817"/>
            <a:ext cx="174090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1200" b="1" kern="0" spc="60" dirty="0">
                <a:solidFill>
                  <a:srgbClr val="D4A843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SUMMER 2020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5218577" y="3352432"/>
            <a:ext cx="1699780" cy="214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b="1" dirty="0">
                <a:solidFill>
                  <a:srgbClr val="F0F4F8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Sustained  Elevated Volumes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5218577" y="3635825"/>
            <a:ext cx="1614291" cy="545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022"/>
              </a:lnSpc>
            </a:pPr>
            <a:r>
              <a:rPr lang="en-US" sz="700" b="1" dirty="0">
                <a:solidFill>
                  <a:srgbClr val="8DA4BF"/>
                </a:solidFill>
              </a:rPr>
              <a:t>Lockdowns sustained online shopping, keeping volumes high.</a:t>
            </a:r>
            <a:endParaRPr lang="en-US" sz="600" b="1" dirty="0">
              <a:solidFill>
                <a:srgbClr val="8DA4BF"/>
              </a:solidFill>
            </a:endParaRPr>
          </a:p>
        </p:txBody>
      </p:sp>
      <p:sp>
        <p:nvSpPr>
          <p:cNvPr id="42" name="Text 34"/>
          <p:cNvSpPr/>
          <p:nvPr/>
        </p:nvSpPr>
        <p:spPr>
          <a:xfrm>
            <a:off x="5033360" y="2978667"/>
            <a:ext cx="57150" cy="1143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4"/>
          <p:cNvSpPr/>
          <p:nvPr/>
        </p:nvSpPr>
        <p:spPr>
          <a:xfrm>
            <a:off x="6883818" y="1000664"/>
            <a:ext cx="1807887" cy="1569449"/>
          </a:xfrm>
          <a:prstGeom prst="roundRect">
            <a:avLst>
              <a:gd name="adj" fmla="val 5804"/>
            </a:avLst>
          </a:prstGeom>
          <a:solidFill>
            <a:srgbClr val="162A4A"/>
          </a:solidFill>
          <a:ln w="9525">
            <a:solidFill>
              <a:srgbClr val="D4A843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5"/>
          <p:cNvSpPr/>
          <p:nvPr/>
        </p:nvSpPr>
        <p:spPr>
          <a:xfrm>
            <a:off x="6970221" y="1126698"/>
            <a:ext cx="279263" cy="292771"/>
          </a:xfrm>
          <a:prstGeom prst="roundRect">
            <a:avLst>
              <a:gd name="adj" fmla="val 25000"/>
            </a:avLst>
          </a:prstGeom>
          <a:solidFill>
            <a:srgbClr val="ED8936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35172" y="1188084"/>
            <a:ext cx="149360" cy="169807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323417" y="1214798"/>
            <a:ext cx="1693975" cy="178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1200" b="1" kern="0" spc="60" dirty="0">
                <a:solidFill>
                  <a:srgbClr val="D4A843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FALL 2020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7027046" y="1512181"/>
            <a:ext cx="1693975" cy="170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b="1" dirty="0">
                <a:solidFill>
                  <a:srgbClr val="F0F4F8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Second Wave Fuels Peak </a:t>
            </a:r>
          </a:p>
          <a:p>
            <a:pPr marL="0" indent="0" algn="l">
              <a:lnSpc>
                <a:spcPts val="1050"/>
              </a:lnSpc>
              <a:buNone/>
            </a:pPr>
            <a:r>
              <a:rPr lang="en-US" sz="1000" b="1" dirty="0">
                <a:solidFill>
                  <a:srgbClr val="F0F4F8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Season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7027046" y="1939048"/>
            <a:ext cx="1570777" cy="523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022"/>
              </a:lnSpc>
            </a:pPr>
            <a:r>
              <a:rPr lang="en-US" sz="700" b="1" dirty="0">
                <a:solidFill>
                  <a:srgbClr val="8DA4BF"/>
                </a:solidFill>
              </a:rPr>
              <a:t>Second wave drove e-commerce growth into peak season.</a:t>
            </a:r>
            <a:endParaRPr lang="en-US" sz="600" b="1" dirty="0">
              <a:solidFill>
                <a:srgbClr val="8DA4BF"/>
              </a:solidFill>
            </a:endParaRPr>
          </a:p>
        </p:txBody>
      </p:sp>
      <p:sp>
        <p:nvSpPr>
          <p:cNvPr id="43" name="Text 35"/>
          <p:cNvSpPr/>
          <p:nvPr/>
        </p:nvSpPr>
        <p:spPr>
          <a:xfrm>
            <a:off x="8691705" y="1167475"/>
            <a:ext cx="55609" cy="14638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36"/>
          <p:cNvSpPr/>
          <p:nvPr/>
        </p:nvSpPr>
        <p:spPr>
          <a:xfrm>
            <a:off x="1082731" y="2643885"/>
            <a:ext cx="171450" cy="171450"/>
          </a:xfrm>
          <a:prstGeom prst="ellipse">
            <a:avLst/>
          </a:prstGeom>
          <a:solidFill>
            <a:srgbClr val="D4A843"/>
          </a:solidFill>
          <a:ln w="19050">
            <a:solidFill>
              <a:srgbClr val="0C1B33"/>
            </a:solidFill>
          </a:ln>
          <a:effectLst>
            <a:outerShdw blurRad="101600" dist="50800" dir="16200000" algn="bl" rotWithShape="0">
              <a:srgbClr val="D4A843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37"/>
          <p:cNvSpPr/>
          <p:nvPr/>
        </p:nvSpPr>
        <p:spPr>
          <a:xfrm>
            <a:off x="2753299" y="2661331"/>
            <a:ext cx="128141" cy="128141"/>
          </a:xfrm>
          <a:prstGeom prst="ellipse">
            <a:avLst/>
          </a:prstGeom>
          <a:solidFill>
            <a:srgbClr val="D4A843"/>
          </a:solidFill>
          <a:ln w="19050">
            <a:solidFill>
              <a:srgbClr val="0C1B33"/>
            </a:solidFill>
          </a:ln>
          <a:effectLst>
            <a:outerShdw blurRad="101600" dist="50800" dir="16200000" algn="bl" rotWithShape="0">
              <a:srgbClr val="D4A843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38"/>
          <p:cNvSpPr/>
          <p:nvPr/>
        </p:nvSpPr>
        <p:spPr>
          <a:xfrm>
            <a:off x="4406878" y="2661331"/>
            <a:ext cx="128141" cy="128141"/>
          </a:xfrm>
          <a:prstGeom prst="ellipse">
            <a:avLst/>
          </a:prstGeom>
          <a:solidFill>
            <a:srgbClr val="D4A843"/>
          </a:solidFill>
          <a:ln w="19050">
            <a:solidFill>
              <a:srgbClr val="0C1B33"/>
            </a:solidFill>
          </a:ln>
          <a:effectLst>
            <a:outerShdw blurRad="101600" dist="50800" dir="16200000" algn="bl" rotWithShape="0">
              <a:srgbClr val="D4A843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39"/>
          <p:cNvSpPr/>
          <p:nvPr/>
        </p:nvSpPr>
        <p:spPr>
          <a:xfrm>
            <a:off x="5900327" y="2668251"/>
            <a:ext cx="128141" cy="128141"/>
          </a:xfrm>
          <a:prstGeom prst="ellipse">
            <a:avLst/>
          </a:prstGeom>
          <a:solidFill>
            <a:srgbClr val="D4A843"/>
          </a:solidFill>
          <a:ln w="19050">
            <a:solidFill>
              <a:srgbClr val="0C1B33"/>
            </a:solidFill>
          </a:ln>
          <a:effectLst>
            <a:outerShdw blurRad="101600" dist="50800" dir="16200000" algn="bl" rotWithShape="0">
              <a:srgbClr val="D4A843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0"/>
          <p:cNvSpPr/>
          <p:nvPr/>
        </p:nvSpPr>
        <p:spPr>
          <a:xfrm>
            <a:off x="7676741" y="2678558"/>
            <a:ext cx="128141" cy="128141"/>
          </a:xfrm>
          <a:prstGeom prst="ellipse">
            <a:avLst/>
          </a:prstGeom>
          <a:solidFill>
            <a:srgbClr val="D4A843"/>
          </a:solidFill>
          <a:ln w="19050">
            <a:solidFill>
              <a:srgbClr val="0C1B33"/>
            </a:solidFill>
          </a:ln>
          <a:effectLst>
            <a:outerShdw blurRad="101600" dist="50800" dir="16200000" algn="bl" rotWithShape="0">
              <a:srgbClr val="D4A843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0050" y="381893"/>
            <a:ext cx="150465" cy="1504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6836" y="285750"/>
            <a:ext cx="363686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b="1" kern="0" spc="-30">
                <a:solidFill>
                  <a:srgbClr val="F0F4F8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Weekly Volume Trend: 2019 vs 2020</a:t>
            </a:r>
            <a:endParaRPr lang="en-US" sz="1800"/>
          </a:p>
        </p:txBody>
      </p:sp>
      <p:sp>
        <p:nvSpPr>
          <p:cNvPr id="4" name="Text 1"/>
          <p:cNvSpPr/>
          <p:nvPr/>
        </p:nvSpPr>
        <p:spPr>
          <a:xfrm>
            <a:off x="479657" y="657746"/>
            <a:ext cx="5687973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00" b="1">
                <a:solidFill>
                  <a:srgbClr val="8DA4BF"/>
                </a:solidFill>
                <a:latin typeface="Calibri"/>
                <a:ea typeface="Calibri"/>
                <a:cs typeface="Calibri"/>
              </a:rPr>
              <a:t>Comparing weekly parcel delivery volumes across all 53 weeks — divergence begins at pandemic declaration</a:t>
            </a:r>
            <a:endParaRPr lang="en-US" sz="800" b="1">
              <a:latin typeface="Calibri"/>
              <a:ea typeface="Calibri"/>
              <a:cs typeface="Calibri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295995" y="975271"/>
            <a:ext cx="6848475" cy="7590"/>
          </a:xfrm>
          <a:prstGeom prst="rect">
            <a:avLst/>
          </a:prstGeom>
          <a:solidFill>
            <a:srgbClr val="8DA4BF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331556" y="4621307"/>
            <a:ext cx="2705100" cy="441424"/>
          </a:xfrm>
          <a:prstGeom prst="roundRect">
            <a:avLst>
              <a:gd name="adj" fmla="val 16112"/>
            </a:avLst>
          </a:prstGeom>
          <a:solidFill>
            <a:srgbClr val="162A4A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331556" y="4621307"/>
            <a:ext cx="19050" cy="441424"/>
          </a:xfrm>
          <a:custGeom>
            <a:avLst/>
            <a:gdLst/>
            <a:ahLst/>
            <a:cxnLst/>
            <a:rect l="l" t="t" r="r" b="b"/>
            <a:pathLst>
              <a:path w="19050" h="441424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418748"/>
                </a:lnTo>
                <a:lnTo>
                  <a:pt x="16669" y="416055"/>
                </a:lnTo>
                <a:lnTo>
                  <a:pt x="14288" y="413061"/>
                </a:lnTo>
                <a:lnTo>
                  <a:pt x="11906" y="409697"/>
                </a:lnTo>
                <a:lnTo>
                  <a:pt x="9525" y="405859"/>
                </a:lnTo>
                <a:lnTo>
                  <a:pt x="7144" y="401370"/>
                </a:lnTo>
                <a:lnTo>
                  <a:pt x="4763" y="395892"/>
                </a:lnTo>
                <a:lnTo>
                  <a:pt x="2381" y="388554"/>
                </a:lnTo>
                <a:lnTo>
                  <a:pt x="0" y="370304"/>
                </a:lnTo>
                <a:close/>
              </a:path>
            </a:pathLst>
          </a:custGeom>
          <a:solidFill>
            <a:srgbClr val="D4A84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6683" y="4696995"/>
            <a:ext cx="132588" cy="132588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32040" y="4707627"/>
            <a:ext cx="2336122" cy="282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00" b="1" dirty="0">
                <a:solidFill>
                  <a:srgbClr val="F0F4F8"/>
                </a:solidFill>
                <a:latin typeface="Calibri"/>
                <a:ea typeface="Calibri"/>
                <a:cs typeface="Calibri"/>
              </a:rPr>
              <a:t>Weeks 1–10:</a:t>
            </a:r>
            <a:r>
              <a:rPr lang="en-US" sz="700" dirty="0">
                <a:solidFill>
                  <a:srgbClr val="8DA4BF"/>
                </a:solidFill>
                <a:latin typeface="Calibri"/>
                <a:ea typeface="Calibri"/>
                <a:cs typeface="Calibri"/>
              </a:rPr>
              <a:t> Both years track nearly identically, confirming pre-COVID baseline alignment.</a:t>
            </a:r>
            <a:endParaRPr lang="en-US" sz="700" dirty="0">
              <a:latin typeface="Calibri"/>
              <a:ea typeface="Calibri"/>
              <a:cs typeface="Calibri"/>
            </a:endParaRPr>
          </a:p>
        </p:txBody>
      </p:sp>
      <p:sp>
        <p:nvSpPr>
          <p:cNvPr id="34" name="Text 29"/>
          <p:cNvSpPr/>
          <p:nvPr/>
        </p:nvSpPr>
        <p:spPr>
          <a:xfrm>
            <a:off x="3150956" y="4621307"/>
            <a:ext cx="2705100" cy="441424"/>
          </a:xfrm>
          <a:prstGeom prst="roundRect">
            <a:avLst>
              <a:gd name="adj" fmla="val 16112"/>
            </a:avLst>
          </a:prstGeom>
          <a:solidFill>
            <a:srgbClr val="1E5155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5" name="Text 30"/>
          <p:cNvSpPr/>
          <p:nvPr/>
        </p:nvSpPr>
        <p:spPr>
          <a:xfrm>
            <a:off x="3150956" y="4621307"/>
            <a:ext cx="19050" cy="441424"/>
          </a:xfrm>
          <a:custGeom>
            <a:avLst/>
            <a:gdLst/>
            <a:ahLst/>
            <a:cxnLst/>
            <a:rect l="l" t="t" r="r" b="b"/>
            <a:pathLst>
              <a:path w="19050" h="441424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418748"/>
                </a:lnTo>
                <a:lnTo>
                  <a:pt x="16669" y="416055"/>
                </a:lnTo>
                <a:lnTo>
                  <a:pt x="14288" y="413061"/>
                </a:lnTo>
                <a:lnTo>
                  <a:pt x="11906" y="409697"/>
                </a:lnTo>
                <a:lnTo>
                  <a:pt x="9525" y="405859"/>
                </a:lnTo>
                <a:lnTo>
                  <a:pt x="7144" y="401370"/>
                </a:lnTo>
                <a:lnTo>
                  <a:pt x="4763" y="395892"/>
                </a:lnTo>
                <a:lnTo>
                  <a:pt x="2381" y="388554"/>
                </a:lnTo>
                <a:lnTo>
                  <a:pt x="0" y="370304"/>
                </a:lnTo>
                <a:close/>
              </a:path>
            </a:pathLst>
          </a:custGeom>
          <a:solidFill>
            <a:srgbClr val="D4A84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66083" y="4696995"/>
            <a:ext cx="132588" cy="132588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3451440" y="4707627"/>
            <a:ext cx="2336122" cy="282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b="1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11:</a:t>
            </a:r>
            <a:r>
              <a:rPr lang="en-US" sz="730">
                <a:solidFill>
                  <a:srgbClr val="8D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Brief dip as pandemic declared — initial market shock disrupts volumes temporarily.</a:t>
            </a:r>
            <a:endParaRPr lang="en-US" sz="730"/>
          </a:p>
        </p:txBody>
      </p:sp>
      <p:sp>
        <p:nvSpPr>
          <p:cNvPr id="38" name="Text 32"/>
          <p:cNvSpPr/>
          <p:nvPr/>
        </p:nvSpPr>
        <p:spPr>
          <a:xfrm>
            <a:off x="5970356" y="4621307"/>
            <a:ext cx="2705100" cy="441424"/>
          </a:xfrm>
          <a:prstGeom prst="roundRect">
            <a:avLst>
              <a:gd name="adj" fmla="val 16112"/>
            </a:avLst>
          </a:prstGeom>
          <a:solidFill>
            <a:srgbClr val="162A4A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9" name="Text 33"/>
          <p:cNvSpPr/>
          <p:nvPr/>
        </p:nvSpPr>
        <p:spPr>
          <a:xfrm>
            <a:off x="5970356" y="4621307"/>
            <a:ext cx="19050" cy="441424"/>
          </a:xfrm>
          <a:custGeom>
            <a:avLst/>
            <a:gdLst/>
            <a:ahLst/>
            <a:cxnLst/>
            <a:rect l="l" t="t" r="r" b="b"/>
            <a:pathLst>
              <a:path w="19050" h="441424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418748"/>
                </a:lnTo>
                <a:lnTo>
                  <a:pt x="16669" y="416055"/>
                </a:lnTo>
                <a:lnTo>
                  <a:pt x="14288" y="413061"/>
                </a:lnTo>
                <a:lnTo>
                  <a:pt x="11906" y="409697"/>
                </a:lnTo>
                <a:lnTo>
                  <a:pt x="9525" y="405859"/>
                </a:lnTo>
                <a:lnTo>
                  <a:pt x="7144" y="401370"/>
                </a:lnTo>
                <a:lnTo>
                  <a:pt x="4763" y="395892"/>
                </a:lnTo>
                <a:lnTo>
                  <a:pt x="2381" y="388554"/>
                </a:lnTo>
                <a:lnTo>
                  <a:pt x="0" y="370304"/>
                </a:lnTo>
                <a:close/>
              </a:path>
            </a:pathLst>
          </a:custGeom>
          <a:solidFill>
            <a:srgbClr val="D4A84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85483" y="4696995"/>
            <a:ext cx="132588" cy="132588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6270840" y="4707627"/>
            <a:ext cx="2336122" cy="282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b="1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16+:</a:t>
            </a:r>
            <a:r>
              <a:rPr lang="en-US" sz="730">
                <a:solidFill>
                  <a:srgbClr val="8D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E-commerce boom drives 2020 volumes sharply above 2019 — gap widens into peak season.</a:t>
            </a:r>
            <a:endParaRPr lang="en-US" sz="730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46BE7430-2FC2-1CA9-21D7-5849071B03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4735" y="993428"/>
            <a:ext cx="7200718" cy="349232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450503"/>
            <a:ext cx="171450" cy="1714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342900"/>
            <a:ext cx="4107061" cy="3866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045"/>
              </a:lnSpc>
              <a:buNone/>
            </a:pPr>
            <a:r>
              <a:rPr lang="en-US" b="1" kern="0" spc="-30">
                <a:solidFill>
                  <a:srgbClr val="F0F4F8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COVID-19 Impact on Peak Season 2020</a:t>
            </a:r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800100" y="786705"/>
            <a:ext cx="429220" cy="21580"/>
          </a:xfrm>
          <a:prstGeom prst="roundRect">
            <a:avLst>
              <a:gd name="adj" fmla="val 64736"/>
            </a:avLst>
          </a:prstGeom>
          <a:solidFill>
            <a:srgbClr val="D4A84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FE56169-A2E5-5126-3F66-C2BE4218EB81}"/>
              </a:ext>
            </a:extLst>
          </p:cNvPr>
          <p:cNvGrpSpPr/>
          <p:nvPr/>
        </p:nvGrpSpPr>
        <p:grpSpPr>
          <a:xfrm rot="16200000">
            <a:off x="4156660" y="2758258"/>
            <a:ext cx="353467" cy="4185836"/>
            <a:chOff x="8435952" y="808163"/>
            <a:chExt cx="353467" cy="4185836"/>
          </a:xfrm>
        </p:grpSpPr>
        <p:sp>
          <p:nvSpPr>
            <p:cNvPr id="22" name="Text 19"/>
            <p:cNvSpPr/>
            <p:nvPr/>
          </p:nvSpPr>
          <p:spPr>
            <a:xfrm rot="5400000">
              <a:off x="6603357" y="2640758"/>
              <a:ext cx="4018657" cy="353467"/>
            </a:xfrm>
            <a:prstGeom prst="roundRect">
              <a:avLst>
                <a:gd name="adj" fmla="val 24432"/>
              </a:avLst>
            </a:prstGeom>
            <a:solidFill>
              <a:srgbClr val="D4A843">
                <a:alpha val="15000"/>
              </a:srgbClr>
            </a:solidFill>
            <a:ln w="9525">
              <a:solidFill>
                <a:srgbClr val="D4A843">
                  <a:alpha val="40000"/>
                </a:srgbClr>
              </a:solidFill>
            </a:ln>
          </p:spPr>
          <p:txBody>
            <a:bodyPr wrap="square" rtlCol="0" anchor="t"/>
            <a:lstStyle/>
            <a:p>
              <a:pPr marL="0" indent="0">
                <a:buNone/>
              </a:pPr>
              <a:endParaRPr lang="en-US"/>
            </a:p>
          </p:txBody>
        </p:sp>
        <p:pic>
          <p:nvPicPr>
            <p:cNvPr id="23" name="Image 1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8546392" y="981855"/>
              <a:ext cx="132588" cy="132588"/>
            </a:xfrm>
            <a:prstGeom prst="rect">
              <a:avLst/>
            </a:prstGeom>
          </p:spPr>
        </p:pic>
        <p:sp>
          <p:nvSpPr>
            <p:cNvPr id="24" name="Text 20"/>
            <p:cNvSpPr/>
            <p:nvPr/>
          </p:nvSpPr>
          <p:spPr>
            <a:xfrm rot="5400000">
              <a:off x="6697840" y="2982936"/>
              <a:ext cx="3829690" cy="19243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ts val="1515"/>
                </a:lnSpc>
                <a:buNone/>
              </a:pPr>
              <a:r>
                <a:rPr lang="en-US" sz="1010" b="1" dirty="0">
                  <a:solidFill>
                    <a:srgbClr val="D4A84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Estimated Volume Increase: ~33% Year-over-Year Growth</a:t>
              </a:r>
              <a:endParaRPr lang="en-US" sz="1010" dirty="0"/>
            </a:p>
          </p:txBody>
        </p:sp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30EAD5F3-600D-ADF7-FAEE-57FFD79B52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4438" y="831971"/>
            <a:ext cx="4977991" cy="37114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338733"/>
            <a:ext cx="29170" cy="257770"/>
          </a:xfrm>
          <a:prstGeom prst="roundRect">
            <a:avLst>
              <a:gd name="adj" fmla="val 47892"/>
            </a:avLst>
          </a:prstGeom>
          <a:solidFill>
            <a:srgbClr val="D4A84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29530" y="285750"/>
            <a:ext cx="4538514" cy="3638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865"/>
              </a:lnSpc>
              <a:buNone/>
            </a:pPr>
            <a:r>
              <a:rPr lang="en-US" sz="1910" b="1" kern="0" spc="20" dirty="0">
                <a:solidFill>
                  <a:srgbClr val="F0F4F8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Customer Segmentation Framework</a:t>
            </a:r>
            <a:endParaRPr lang="en-US" sz="1910" dirty="0"/>
          </a:p>
        </p:txBody>
      </p:sp>
      <p:sp>
        <p:nvSpPr>
          <p:cNvPr id="4" name="Text 2"/>
          <p:cNvSpPr/>
          <p:nvPr/>
        </p:nvSpPr>
        <p:spPr>
          <a:xfrm>
            <a:off x="528191" y="678805"/>
            <a:ext cx="9037335" cy="159990"/>
          </a:xfrm>
          <a:prstGeom prst="rect">
            <a:avLst/>
          </a:prstGeom>
          <a:noFill/>
          <a:ln/>
        </p:spPr>
        <p:txBody>
          <a:bodyPr wrap="none" lIns="1397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dirty="0">
                <a:solidFill>
                  <a:srgbClr val="8D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Five-tier volume classification &amp; five-category growth classification</a:t>
            </a:r>
            <a:endParaRPr lang="en-US" sz="840" dirty="0"/>
          </a:p>
        </p:txBody>
      </p:sp>
      <p:sp>
        <p:nvSpPr>
          <p:cNvPr id="5" name="Text 3"/>
          <p:cNvSpPr/>
          <p:nvPr/>
        </p:nvSpPr>
        <p:spPr>
          <a:xfrm>
            <a:off x="715383" y="951532"/>
            <a:ext cx="1400770" cy="2895005"/>
          </a:xfrm>
          <a:prstGeom prst="roundRect">
            <a:avLst>
              <a:gd name="adj" fmla="val 6165"/>
            </a:avLst>
          </a:prstGeom>
          <a:gradFill rotWithShape="1">
            <a:gsLst>
              <a:gs pos="0">
                <a:srgbClr val="D4A843">
                  <a:alpha val="8000"/>
                </a:srgbClr>
              </a:gs>
              <a:gs pos="40000">
                <a:srgbClr val="162A4A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5383" y="951532"/>
            <a:ext cx="1400770" cy="19050"/>
          </a:xfrm>
          <a:custGeom>
            <a:avLst/>
            <a:gdLst/>
            <a:ahLst/>
            <a:cxnLst/>
            <a:rect l="l" t="t" r="r" b="b"/>
            <a:pathLst>
              <a:path w="1400770" h="19050">
                <a:moveTo>
                  <a:pt x="86360" y="0"/>
                </a:moveTo>
                <a:lnTo>
                  <a:pt x="66220" y="2381"/>
                </a:lnTo>
                <a:lnTo>
                  <a:pt x="58078" y="4763"/>
                </a:lnTo>
                <a:lnTo>
                  <a:pt x="51968" y="7144"/>
                </a:lnTo>
                <a:lnTo>
                  <a:pt x="46934" y="9525"/>
                </a:lnTo>
                <a:lnTo>
                  <a:pt x="42603" y="11906"/>
                </a:lnTo>
                <a:lnTo>
                  <a:pt x="38783" y="14288"/>
                </a:lnTo>
                <a:lnTo>
                  <a:pt x="35358" y="16669"/>
                </a:lnTo>
                <a:lnTo>
                  <a:pt x="32254" y="19050"/>
                </a:lnTo>
                <a:lnTo>
                  <a:pt x="1368516" y="19050"/>
                </a:lnTo>
                <a:lnTo>
                  <a:pt x="1365412" y="16669"/>
                </a:lnTo>
                <a:lnTo>
                  <a:pt x="1361988" y="14288"/>
                </a:lnTo>
                <a:lnTo>
                  <a:pt x="1358167" y="11906"/>
                </a:lnTo>
                <a:lnTo>
                  <a:pt x="1353837" y="9525"/>
                </a:lnTo>
                <a:lnTo>
                  <a:pt x="1348803" y="7144"/>
                </a:lnTo>
                <a:lnTo>
                  <a:pt x="1342693" y="4763"/>
                </a:lnTo>
                <a:lnTo>
                  <a:pt x="1334550" y="2381"/>
                </a:lnTo>
                <a:lnTo>
                  <a:pt x="1314410" y="0"/>
                </a:lnTo>
                <a:close/>
              </a:path>
            </a:pathLst>
          </a:custGeom>
          <a:solidFill>
            <a:srgbClr val="D4A84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58308" y="1070892"/>
            <a:ext cx="314920" cy="314920"/>
          </a:xfrm>
          <a:prstGeom prst="ellipse">
            <a:avLst/>
          </a:prstGeom>
          <a:solidFill>
            <a:srgbClr val="D4A843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49474" y="1162059"/>
            <a:ext cx="132588" cy="1325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68420" y="1602059"/>
            <a:ext cx="638636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1600" b="1" kern="0" spc="20" dirty="0">
                <a:solidFill>
                  <a:srgbClr val="D4A843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63640" y="1885774"/>
            <a:ext cx="792946" cy="262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86"/>
              </a:lnSpc>
              <a:buNone/>
            </a:pPr>
            <a:r>
              <a:rPr lang="en-US" sz="1000" dirty="0">
                <a:solidFill>
                  <a:srgbClr val="8D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&gt;500,000</a:t>
            </a:r>
            <a:br>
              <a:rPr sz="1000" dirty="0"/>
            </a:br>
            <a:r>
              <a:rPr lang="en-US" sz="1000" dirty="0">
                <a:solidFill>
                  <a:srgbClr val="8D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parcels/year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225233" y="2236556"/>
            <a:ext cx="396523" cy="278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90"/>
              </a:lnSpc>
              <a:buNone/>
            </a:pPr>
            <a:r>
              <a:rPr lang="en-US" sz="1460" b="1" dirty="0">
                <a:solidFill>
                  <a:srgbClr val="D4A843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22%</a:t>
            </a:r>
            <a:endParaRPr lang="en-US" sz="1460" dirty="0"/>
          </a:p>
        </p:txBody>
      </p:sp>
      <p:sp>
        <p:nvSpPr>
          <p:cNvPr id="12" name="Text 9"/>
          <p:cNvSpPr/>
          <p:nvPr/>
        </p:nvSpPr>
        <p:spPr>
          <a:xfrm>
            <a:off x="1158611" y="2563488"/>
            <a:ext cx="52976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30"/>
              </a:lnSpc>
              <a:buNone/>
            </a:pPr>
            <a:r>
              <a:rPr lang="en-US" sz="620" kern="0" spc="70" dirty="0">
                <a:solidFill>
                  <a:srgbClr val="8D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</a:t>
            </a:r>
            <a:endParaRPr lang="en-US" sz="620" dirty="0"/>
          </a:p>
        </p:txBody>
      </p:sp>
      <p:sp>
        <p:nvSpPr>
          <p:cNvPr id="13" name="Text 10"/>
          <p:cNvSpPr/>
          <p:nvPr/>
        </p:nvSpPr>
        <p:spPr>
          <a:xfrm>
            <a:off x="904389" y="2847888"/>
            <a:ext cx="1047168" cy="209695"/>
          </a:xfrm>
          <a:prstGeom prst="roundRect">
            <a:avLst>
              <a:gd name="adj" fmla="val 21880"/>
            </a:avLst>
          </a:prstGeom>
          <a:solidFill>
            <a:srgbClr val="FFFFFF">
              <a:alpha val="4000"/>
            </a:srgbClr>
          </a:solidFill>
          <a:ln/>
        </p:spPr>
        <p:txBody>
          <a:bodyPr wrap="none" lIns="71120" tIns="29210" rIns="71120" bIns="29210" rtlCol="0" anchor="t"/>
          <a:lstStyle/>
          <a:p>
            <a:pPr marL="0" indent="0" algn="ctr">
              <a:lnSpc>
                <a:spcPts val="1095"/>
              </a:lnSpc>
              <a:buNone/>
            </a:pPr>
            <a:r>
              <a:rPr lang="en-US" sz="900" dirty="0">
                <a:solidFill>
                  <a:srgbClr val="8D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Net: </a:t>
            </a: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$17.16</a:t>
            </a:r>
            <a:r>
              <a:rPr lang="en-US" sz="900" dirty="0">
                <a:solidFill>
                  <a:srgbClr val="8D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/parcel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957470" y="3104493"/>
            <a:ext cx="964441" cy="197346"/>
          </a:xfrm>
          <a:prstGeom prst="roundRect">
            <a:avLst>
              <a:gd name="adj" fmla="val 20603"/>
            </a:avLst>
          </a:prstGeom>
          <a:solidFill>
            <a:srgbClr val="D4A843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VOLUME</a:t>
            </a:r>
            <a:endParaRPr lang="en-US" sz="800" dirty="0"/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DC0DEEE4-A634-E6B8-E47D-BF1778051E7E}"/>
              </a:ext>
            </a:extLst>
          </p:cNvPr>
          <p:cNvGrpSpPr/>
          <p:nvPr/>
        </p:nvGrpSpPr>
        <p:grpSpPr>
          <a:xfrm>
            <a:off x="2746617" y="995511"/>
            <a:ext cx="1400770" cy="2895005"/>
            <a:chOff x="2363242" y="1024086"/>
            <a:chExt cx="1400770" cy="2895005"/>
          </a:xfrm>
        </p:grpSpPr>
        <p:sp>
          <p:nvSpPr>
            <p:cNvPr id="16" name="Text 12"/>
            <p:cNvSpPr/>
            <p:nvPr/>
          </p:nvSpPr>
          <p:spPr>
            <a:xfrm>
              <a:off x="2363242" y="1024086"/>
              <a:ext cx="1400770" cy="2895005"/>
            </a:xfrm>
            <a:prstGeom prst="roundRect">
              <a:avLst>
                <a:gd name="adj" fmla="val 6165"/>
              </a:avLst>
            </a:prstGeom>
            <a:gradFill rotWithShape="1">
              <a:gsLst>
                <a:gs pos="0">
                  <a:srgbClr val="6BA3D6">
                    <a:alpha val="8000"/>
                  </a:srgbClr>
                </a:gs>
                <a:gs pos="40000">
                  <a:srgbClr val="162A4A"/>
                </a:gs>
              </a:gsLst>
              <a:lin ang="5400000" scaled="1"/>
            </a:gradFill>
            <a:ln/>
          </p:spPr>
          <p:txBody>
            <a:bodyPr wrap="square" rtlCol="0" anchor="t"/>
            <a:lstStyle/>
            <a:p>
              <a:endParaRPr lang="en-US"/>
            </a:p>
          </p:txBody>
        </p:sp>
        <p:sp>
          <p:nvSpPr>
            <p:cNvPr id="17" name="Text 13"/>
            <p:cNvSpPr/>
            <p:nvPr/>
          </p:nvSpPr>
          <p:spPr>
            <a:xfrm>
              <a:off x="2363242" y="1024086"/>
              <a:ext cx="9525" cy="2895005"/>
            </a:xfrm>
            <a:custGeom>
              <a:avLst/>
              <a:gdLst/>
              <a:ahLst/>
              <a:cxnLst/>
              <a:rect l="l" t="t" r="r" b="b"/>
              <a:pathLst>
                <a:path w="9525" h="2895005">
                  <a:moveTo>
                    <a:pt x="0" y="86360"/>
                  </a:moveTo>
                  <a:lnTo>
                    <a:pt x="1191" y="72069"/>
                  </a:lnTo>
                  <a:lnTo>
                    <a:pt x="2381" y="66220"/>
                  </a:lnTo>
                  <a:lnTo>
                    <a:pt x="3572" y="61780"/>
                  </a:lnTo>
                  <a:lnTo>
                    <a:pt x="4763" y="58078"/>
                  </a:lnTo>
                  <a:lnTo>
                    <a:pt x="5953" y="54852"/>
                  </a:lnTo>
                  <a:lnTo>
                    <a:pt x="7144" y="51968"/>
                  </a:lnTo>
                  <a:lnTo>
                    <a:pt x="8334" y="49346"/>
                  </a:lnTo>
                  <a:lnTo>
                    <a:pt x="9525" y="46934"/>
                  </a:lnTo>
                  <a:lnTo>
                    <a:pt x="9525" y="2848071"/>
                  </a:lnTo>
                  <a:lnTo>
                    <a:pt x="8334" y="2845659"/>
                  </a:lnTo>
                  <a:lnTo>
                    <a:pt x="7144" y="2843037"/>
                  </a:lnTo>
                  <a:lnTo>
                    <a:pt x="5953" y="2840153"/>
                  </a:lnTo>
                  <a:lnTo>
                    <a:pt x="4763" y="2836927"/>
                  </a:lnTo>
                  <a:lnTo>
                    <a:pt x="3572" y="2833225"/>
                  </a:lnTo>
                  <a:lnTo>
                    <a:pt x="2381" y="2828785"/>
                  </a:lnTo>
                  <a:lnTo>
                    <a:pt x="1191" y="2822935"/>
                  </a:lnTo>
                  <a:lnTo>
                    <a:pt x="0" y="2808645"/>
                  </a:lnTo>
                  <a:close/>
                </a:path>
              </a:pathLst>
            </a:custGeom>
            <a:solidFill>
              <a:srgbClr val="D4A843">
                <a:alpha val="12000"/>
              </a:srgbClr>
            </a:solidFill>
            <a:ln/>
          </p:spPr>
          <p:txBody>
            <a:bodyPr wrap="square" rtlCol="0" anchor="t"/>
            <a:lstStyle/>
            <a:p>
              <a:pPr marL="0" indent="0">
                <a:buNone/>
              </a:pPr>
              <a:endParaRPr lang="en-US"/>
            </a:p>
          </p:txBody>
        </p:sp>
        <p:sp>
          <p:nvSpPr>
            <p:cNvPr id="18" name="Text 14"/>
            <p:cNvSpPr/>
            <p:nvPr/>
          </p:nvSpPr>
          <p:spPr>
            <a:xfrm>
              <a:off x="3754487" y="1024086"/>
              <a:ext cx="9525" cy="2895005"/>
            </a:xfrm>
            <a:custGeom>
              <a:avLst/>
              <a:gdLst/>
              <a:ahLst/>
              <a:cxnLst/>
              <a:rect l="l" t="t" r="r" b="b"/>
              <a:pathLst>
                <a:path w="9525" h="2895005">
                  <a:moveTo>
                    <a:pt x="0" y="46934"/>
                  </a:moveTo>
                  <a:lnTo>
                    <a:pt x="1191" y="49346"/>
                  </a:lnTo>
                  <a:lnTo>
                    <a:pt x="2381" y="51968"/>
                  </a:lnTo>
                  <a:lnTo>
                    <a:pt x="3572" y="54852"/>
                  </a:lnTo>
                  <a:lnTo>
                    <a:pt x="4763" y="58078"/>
                  </a:lnTo>
                  <a:lnTo>
                    <a:pt x="5953" y="61780"/>
                  </a:lnTo>
                  <a:lnTo>
                    <a:pt x="7144" y="66220"/>
                  </a:lnTo>
                  <a:lnTo>
                    <a:pt x="8334" y="72069"/>
                  </a:lnTo>
                  <a:lnTo>
                    <a:pt x="9525" y="86360"/>
                  </a:lnTo>
                  <a:lnTo>
                    <a:pt x="9525" y="2808645"/>
                  </a:lnTo>
                  <a:lnTo>
                    <a:pt x="8334" y="2822935"/>
                  </a:lnTo>
                  <a:lnTo>
                    <a:pt x="7144" y="2828785"/>
                  </a:lnTo>
                  <a:lnTo>
                    <a:pt x="5953" y="2833225"/>
                  </a:lnTo>
                  <a:lnTo>
                    <a:pt x="4763" y="2836927"/>
                  </a:lnTo>
                  <a:lnTo>
                    <a:pt x="3572" y="2840153"/>
                  </a:lnTo>
                  <a:lnTo>
                    <a:pt x="2381" y="2843037"/>
                  </a:lnTo>
                  <a:lnTo>
                    <a:pt x="1191" y="2845659"/>
                  </a:lnTo>
                  <a:lnTo>
                    <a:pt x="0" y="2848071"/>
                  </a:lnTo>
                  <a:close/>
                </a:path>
              </a:pathLst>
            </a:custGeom>
            <a:solidFill>
              <a:srgbClr val="D4A843">
                <a:alpha val="12000"/>
              </a:srgbClr>
            </a:solidFill>
            <a:ln/>
          </p:spPr>
          <p:txBody>
            <a:bodyPr wrap="square" rtlCol="0" anchor="t"/>
            <a:lstStyle/>
            <a:p>
              <a:pPr marL="0" indent="0">
                <a:buNone/>
              </a:pPr>
              <a:endParaRPr lang="en-US"/>
            </a:p>
          </p:txBody>
        </p:sp>
        <p:sp>
          <p:nvSpPr>
            <p:cNvPr id="19" name="Text 15"/>
            <p:cNvSpPr/>
            <p:nvPr/>
          </p:nvSpPr>
          <p:spPr>
            <a:xfrm>
              <a:off x="2363242" y="1024086"/>
              <a:ext cx="1400770" cy="19050"/>
            </a:xfrm>
            <a:custGeom>
              <a:avLst/>
              <a:gdLst/>
              <a:ahLst/>
              <a:cxnLst/>
              <a:rect l="l" t="t" r="r" b="b"/>
              <a:pathLst>
                <a:path w="1400770" h="19050">
                  <a:moveTo>
                    <a:pt x="86360" y="0"/>
                  </a:moveTo>
                  <a:lnTo>
                    <a:pt x="66220" y="2381"/>
                  </a:lnTo>
                  <a:lnTo>
                    <a:pt x="58078" y="4763"/>
                  </a:lnTo>
                  <a:lnTo>
                    <a:pt x="51968" y="7144"/>
                  </a:lnTo>
                  <a:lnTo>
                    <a:pt x="46934" y="9525"/>
                  </a:lnTo>
                  <a:lnTo>
                    <a:pt x="42603" y="11906"/>
                  </a:lnTo>
                  <a:lnTo>
                    <a:pt x="38783" y="14288"/>
                  </a:lnTo>
                  <a:lnTo>
                    <a:pt x="35358" y="16669"/>
                  </a:lnTo>
                  <a:lnTo>
                    <a:pt x="32254" y="19050"/>
                  </a:lnTo>
                  <a:lnTo>
                    <a:pt x="1368516" y="19050"/>
                  </a:lnTo>
                  <a:lnTo>
                    <a:pt x="1365412" y="16669"/>
                  </a:lnTo>
                  <a:lnTo>
                    <a:pt x="1361988" y="14288"/>
                  </a:lnTo>
                  <a:lnTo>
                    <a:pt x="1358167" y="11906"/>
                  </a:lnTo>
                  <a:lnTo>
                    <a:pt x="1353837" y="9525"/>
                  </a:lnTo>
                  <a:lnTo>
                    <a:pt x="1348803" y="7144"/>
                  </a:lnTo>
                  <a:lnTo>
                    <a:pt x="1342693" y="4763"/>
                  </a:lnTo>
                  <a:lnTo>
                    <a:pt x="1334550" y="2381"/>
                  </a:lnTo>
                  <a:lnTo>
                    <a:pt x="1314410" y="0"/>
                  </a:lnTo>
                  <a:close/>
                </a:path>
              </a:pathLst>
            </a:custGeom>
            <a:solidFill>
              <a:srgbClr val="6BA3D6"/>
            </a:solidFill>
            <a:ln/>
          </p:spPr>
          <p:txBody>
            <a:bodyPr wrap="none" rtlCol="0" anchor="t"/>
            <a:lstStyle/>
            <a:p>
              <a:pPr marL="0" indent="0">
                <a:buNone/>
              </a:pPr>
              <a:endParaRPr lang="en-US"/>
            </a:p>
          </p:txBody>
        </p:sp>
        <p:sp>
          <p:nvSpPr>
            <p:cNvPr id="20" name="Text 16"/>
            <p:cNvSpPr/>
            <p:nvPr/>
          </p:nvSpPr>
          <p:spPr>
            <a:xfrm>
              <a:off x="2906167" y="1143446"/>
              <a:ext cx="314920" cy="314920"/>
            </a:xfrm>
            <a:prstGeom prst="ellipse">
              <a:avLst/>
            </a:prstGeom>
            <a:solidFill>
              <a:srgbClr val="6BA3D6">
                <a:alpha val="12000"/>
              </a:srgbClr>
            </a:solidFill>
            <a:ln/>
          </p:spPr>
          <p:txBody>
            <a:bodyPr wrap="square" rtlCol="0" anchor="t"/>
            <a:lstStyle/>
            <a:p>
              <a:pPr marL="0" indent="0">
                <a:buNone/>
              </a:pPr>
              <a:endParaRPr lang="en-US"/>
            </a:p>
          </p:txBody>
        </p:sp>
        <p:pic>
          <p:nvPicPr>
            <p:cNvPr id="21" name="Image 2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997333" y="1234613"/>
              <a:ext cx="132588" cy="132588"/>
            </a:xfrm>
            <a:prstGeom prst="rect">
              <a:avLst/>
            </a:prstGeom>
          </p:spPr>
        </p:pic>
        <p:sp>
          <p:nvSpPr>
            <p:cNvPr id="22" name="Text 17"/>
            <p:cNvSpPr/>
            <p:nvPr/>
          </p:nvSpPr>
          <p:spPr>
            <a:xfrm>
              <a:off x="2879878" y="1608645"/>
              <a:ext cx="356562" cy="18276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440"/>
                </a:lnSpc>
                <a:buNone/>
              </a:pPr>
              <a:r>
                <a:rPr lang="en-US" sz="1600" b="1" kern="0" spc="20" dirty="0">
                  <a:solidFill>
                    <a:srgbClr val="6BA3D6"/>
                  </a:solidFill>
                  <a:latin typeface="Constantia" pitchFamily="34" charset="0"/>
                  <a:ea typeface="Constantia" pitchFamily="34" charset="-122"/>
                  <a:cs typeface="Constantia" pitchFamily="34" charset="-120"/>
                </a:rPr>
                <a:t>Large</a:t>
              </a:r>
              <a:endParaRPr lang="en-US" sz="1600" dirty="0"/>
            </a:p>
          </p:txBody>
        </p:sp>
        <p:sp>
          <p:nvSpPr>
            <p:cNvPr id="23" name="Text 18"/>
            <p:cNvSpPr/>
            <p:nvPr/>
          </p:nvSpPr>
          <p:spPr>
            <a:xfrm>
              <a:off x="2650033" y="1914349"/>
              <a:ext cx="911736" cy="2628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ts val="986"/>
                </a:lnSpc>
                <a:buNone/>
              </a:pPr>
              <a:r>
                <a:rPr lang="en-US" sz="1000" dirty="0">
                  <a:solidFill>
                    <a:srgbClr val="8DA4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200,000–500,000</a:t>
              </a:r>
              <a:br>
                <a:rPr sz="1000" dirty="0"/>
              </a:br>
              <a:r>
                <a:rPr lang="en-US" sz="1000" dirty="0">
                  <a:solidFill>
                    <a:srgbClr val="8DA4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parcels/year</a:t>
              </a:r>
              <a:endParaRPr lang="en-US" sz="1000" dirty="0"/>
            </a:p>
          </p:txBody>
        </p:sp>
        <p:sp>
          <p:nvSpPr>
            <p:cNvPr id="24" name="Text 19"/>
            <p:cNvSpPr/>
            <p:nvPr/>
          </p:nvSpPr>
          <p:spPr>
            <a:xfrm>
              <a:off x="2903413" y="2278201"/>
              <a:ext cx="396523" cy="27816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190"/>
                </a:lnSpc>
                <a:buNone/>
              </a:pPr>
              <a:r>
                <a:rPr lang="en-US" sz="1460" b="1" dirty="0">
                  <a:solidFill>
                    <a:srgbClr val="6BA3D6"/>
                  </a:solidFill>
                  <a:latin typeface="Constantia" pitchFamily="34" charset="0"/>
                  <a:ea typeface="Constantia" pitchFamily="34" charset="-122"/>
                  <a:cs typeface="Constantia" pitchFamily="34" charset="-120"/>
                </a:rPr>
                <a:t>17%</a:t>
              </a:r>
              <a:endParaRPr lang="en-US" sz="1460" dirty="0"/>
            </a:p>
          </p:txBody>
        </p:sp>
        <p:sp>
          <p:nvSpPr>
            <p:cNvPr id="25" name="Text 20"/>
            <p:cNvSpPr/>
            <p:nvPr/>
          </p:nvSpPr>
          <p:spPr>
            <a:xfrm>
              <a:off x="2808170" y="2574448"/>
              <a:ext cx="529769" cy="11802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930"/>
                </a:lnSpc>
                <a:buNone/>
              </a:pPr>
              <a:r>
                <a:rPr lang="en-US" sz="620" kern="0" spc="70" dirty="0">
                  <a:solidFill>
                    <a:srgbClr val="8DA4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DISCOUNT</a:t>
              </a:r>
              <a:endParaRPr lang="en-US" sz="620" dirty="0"/>
            </a:p>
          </p:txBody>
        </p:sp>
        <p:sp>
          <p:nvSpPr>
            <p:cNvPr id="26" name="Text 21"/>
            <p:cNvSpPr/>
            <p:nvPr/>
          </p:nvSpPr>
          <p:spPr>
            <a:xfrm>
              <a:off x="2605329" y="2883363"/>
              <a:ext cx="916597" cy="197346"/>
            </a:xfrm>
            <a:prstGeom prst="roundRect">
              <a:avLst>
                <a:gd name="adj" fmla="val 21880"/>
              </a:avLst>
            </a:prstGeom>
            <a:solidFill>
              <a:srgbClr val="FFFFFF">
                <a:alpha val="4000"/>
              </a:srgbClr>
            </a:solidFill>
            <a:ln/>
          </p:spPr>
          <p:txBody>
            <a:bodyPr wrap="none" lIns="71120" tIns="29210" rIns="71120" bIns="29210" rtlCol="0" anchor="t"/>
            <a:lstStyle/>
            <a:p>
              <a:pPr marL="0" indent="0" algn="ctr">
                <a:lnSpc>
                  <a:spcPts val="1095"/>
                </a:lnSpc>
                <a:buNone/>
              </a:pPr>
              <a:r>
                <a:rPr lang="en-US" sz="900" dirty="0">
                  <a:solidFill>
                    <a:srgbClr val="8DA4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Net: </a:t>
              </a:r>
              <a:r>
                <a:rPr lang="en-US" sz="900" b="1" dirty="0">
                  <a:solidFill>
                    <a:srgbClr val="F0F4F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$18.26</a:t>
              </a:r>
              <a:r>
                <a:rPr lang="en-US" sz="900" dirty="0">
                  <a:solidFill>
                    <a:srgbClr val="8DA4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/parcel</a:t>
              </a:r>
              <a:endParaRPr lang="en-US" sz="900" dirty="0"/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9D132B85-6A92-2F34-CA13-D587B0E9E202}"/>
              </a:ext>
            </a:extLst>
          </p:cNvPr>
          <p:cNvGrpSpPr/>
          <p:nvPr/>
        </p:nvGrpSpPr>
        <p:grpSpPr>
          <a:xfrm>
            <a:off x="4849785" y="995275"/>
            <a:ext cx="1413262" cy="2914908"/>
            <a:chOff x="3871615" y="1004183"/>
            <a:chExt cx="1413262" cy="2914908"/>
          </a:xfrm>
        </p:grpSpPr>
        <p:sp>
          <p:nvSpPr>
            <p:cNvPr id="28" name="Text 22"/>
            <p:cNvSpPr/>
            <p:nvPr/>
          </p:nvSpPr>
          <p:spPr>
            <a:xfrm>
              <a:off x="3871615" y="1004183"/>
              <a:ext cx="1400770" cy="2895005"/>
            </a:xfrm>
            <a:prstGeom prst="roundRect">
              <a:avLst>
                <a:gd name="adj" fmla="val 6165"/>
              </a:avLst>
            </a:prstGeom>
            <a:gradFill rotWithShape="1">
              <a:gsLst>
                <a:gs pos="0">
                  <a:srgbClr val="4D8280">
                    <a:alpha val="8000"/>
                  </a:srgbClr>
                </a:gs>
                <a:gs pos="40000">
                  <a:srgbClr val="162A4A"/>
                </a:gs>
              </a:gsLst>
              <a:lin ang="5400000" scaled="1"/>
            </a:gradFill>
            <a:ln/>
          </p:spPr>
          <p:txBody>
            <a:bodyPr wrap="square" rtlCol="0" anchor="t"/>
            <a:lstStyle/>
            <a:p>
              <a:endParaRPr lang="en-US"/>
            </a:p>
          </p:txBody>
        </p:sp>
        <p:sp>
          <p:nvSpPr>
            <p:cNvPr id="29" name="Text 23"/>
            <p:cNvSpPr/>
            <p:nvPr/>
          </p:nvSpPr>
          <p:spPr>
            <a:xfrm>
              <a:off x="3871615" y="1024086"/>
              <a:ext cx="9525" cy="2895005"/>
            </a:xfrm>
            <a:custGeom>
              <a:avLst/>
              <a:gdLst/>
              <a:ahLst/>
              <a:cxnLst/>
              <a:rect l="l" t="t" r="r" b="b"/>
              <a:pathLst>
                <a:path w="9525" h="2895005">
                  <a:moveTo>
                    <a:pt x="0" y="86360"/>
                  </a:moveTo>
                  <a:lnTo>
                    <a:pt x="1191" y="72069"/>
                  </a:lnTo>
                  <a:lnTo>
                    <a:pt x="2381" y="66220"/>
                  </a:lnTo>
                  <a:lnTo>
                    <a:pt x="3572" y="61780"/>
                  </a:lnTo>
                  <a:lnTo>
                    <a:pt x="4763" y="58078"/>
                  </a:lnTo>
                  <a:lnTo>
                    <a:pt x="5953" y="54852"/>
                  </a:lnTo>
                  <a:lnTo>
                    <a:pt x="7144" y="51968"/>
                  </a:lnTo>
                  <a:lnTo>
                    <a:pt x="8334" y="49346"/>
                  </a:lnTo>
                  <a:lnTo>
                    <a:pt x="9525" y="46934"/>
                  </a:lnTo>
                  <a:lnTo>
                    <a:pt x="9525" y="2848071"/>
                  </a:lnTo>
                  <a:lnTo>
                    <a:pt x="8334" y="2845659"/>
                  </a:lnTo>
                  <a:lnTo>
                    <a:pt x="7144" y="2843037"/>
                  </a:lnTo>
                  <a:lnTo>
                    <a:pt x="5953" y="2840153"/>
                  </a:lnTo>
                  <a:lnTo>
                    <a:pt x="4763" y="2836927"/>
                  </a:lnTo>
                  <a:lnTo>
                    <a:pt x="3572" y="2833225"/>
                  </a:lnTo>
                  <a:lnTo>
                    <a:pt x="2381" y="2828785"/>
                  </a:lnTo>
                  <a:lnTo>
                    <a:pt x="1191" y="2822935"/>
                  </a:lnTo>
                  <a:lnTo>
                    <a:pt x="0" y="2808645"/>
                  </a:lnTo>
                  <a:close/>
                </a:path>
              </a:pathLst>
            </a:custGeom>
            <a:solidFill>
              <a:srgbClr val="D4A843">
                <a:alpha val="12000"/>
              </a:srgbClr>
            </a:solidFill>
            <a:ln/>
          </p:spPr>
          <p:txBody>
            <a:bodyPr wrap="square" rtlCol="0" anchor="t"/>
            <a:lstStyle/>
            <a:p>
              <a:pPr marL="0" indent="0">
                <a:buNone/>
              </a:pPr>
              <a:endParaRPr lang="en-US"/>
            </a:p>
          </p:txBody>
        </p:sp>
        <p:sp>
          <p:nvSpPr>
            <p:cNvPr id="30" name="Text 24"/>
            <p:cNvSpPr/>
            <p:nvPr/>
          </p:nvSpPr>
          <p:spPr>
            <a:xfrm>
              <a:off x="5262860" y="1024086"/>
              <a:ext cx="9525" cy="2895005"/>
            </a:xfrm>
            <a:custGeom>
              <a:avLst/>
              <a:gdLst/>
              <a:ahLst/>
              <a:cxnLst/>
              <a:rect l="l" t="t" r="r" b="b"/>
              <a:pathLst>
                <a:path w="9525" h="2895005">
                  <a:moveTo>
                    <a:pt x="0" y="46934"/>
                  </a:moveTo>
                  <a:lnTo>
                    <a:pt x="1191" y="49346"/>
                  </a:lnTo>
                  <a:lnTo>
                    <a:pt x="2381" y="51968"/>
                  </a:lnTo>
                  <a:lnTo>
                    <a:pt x="3572" y="54852"/>
                  </a:lnTo>
                  <a:lnTo>
                    <a:pt x="4763" y="58078"/>
                  </a:lnTo>
                  <a:lnTo>
                    <a:pt x="5953" y="61780"/>
                  </a:lnTo>
                  <a:lnTo>
                    <a:pt x="7144" y="66220"/>
                  </a:lnTo>
                  <a:lnTo>
                    <a:pt x="8334" y="72069"/>
                  </a:lnTo>
                  <a:lnTo>
                    <a:pt x="9525" y="86360"/>
                  </a:lnTo>
                  <a:lnTo>
                    <a:pt x="9525" y="2808645"/>
                  </a:lnTo>
                  <a:lnTo>
                    <a:pt x="8334" y="2822935"/>
                  </a:lnTo>
                  <a:lnTo>
                    <a:pt x="7144" y="2828785"/>
                  </a:lnTo>
                  <a:lnTo>
                    <a:pt x="5953" y="2833225"/>
                  </a:lnTo>
                  <a:lnTo>
                    <a:pt x="4763" y="2836927"/>
                  </a:lnTo>
                  <a:lnTo>
                    <a:pt x="3572" y="2840153"/>
                  </a:lnTo>
                  <a:lnTo>
                    <a:pt x="2381" y="2843037"/>
                  </a:lnTo>
                  <a:lnTo>
                    <a:pt x="1191" y="2845659"/>
                  </a:lnTo>
                  <a:lnTo>
                    <a:pt x="0" y="2848071"/>
                  </a:lnTo>
                  <a:close/>
                </a:path>
              </a:pathLst>
            </a:custGeom>
            <a:solidFill>
              <a:srgbClr val="D4A843">
                <a:alpha val="12000"/>
              </a:srgbClr>
            </a:solidFill>
            <a:ln/>
          </p:spPr>
          <p:txBody>
            <a:bodyPr wrap="square" rtlCol="0" anchor="t"/>
            <a:lstStyle/>
            <a:p>
              <a:pPr marL="0" indent="0">
                <a:buNone/>
              </a:pPr>
              <a:endParaRPr lang="en-US"/>
            </a:p>
          </p:txBody>
        </p:sp>
        <p:sp>
          <p:nvSpPr>
            <p:cNvPr id="31" name="Text 25"/>
            <p:cNvSpPr/>
            <p:nvPr/>
          </p:nvSpPr>
          <p:spPr>
            <a:xfrm>
              <a:off x="3884107" y="1014561"/>
              <a:ext cx="1400770" cy="19050"/>
            </a:xfrm>
            <a:custGeom>
              <a:avLst/>
              <a:gdLst/>
              <a:ahLst/>
              <a:cxnLst/>
              <a:rect l="l" t="t" r="r" b="b"/>
              <a:pathLst>
                <a:path w="1400770" h="19050">
                  <a:moveTo>
                    <a:pt x="86360" y="0"/>
                  </a:moveTo>
                  <a:lnTo>
                    <a:pt x="66220" y="2381"/>
                  </a:lnTo>
                  <a:lnTo>
                    <a:pt x="58078" y="4763"/>
                  </a:lnTo>
                  <a:lnTo>
                    <a:pt x="51968" y="7144"/>
                  </a:lnTo>
                  <a:lnTo>
                    <a:pt x="46934" y="9525"/>
                  </a:lnTo>
                  <a:lnTo>
                    <a:pt x="42603" y="11906"/>
                  </a:lnTo>
                  <a:lnTo>
                    <a:pt x="38783" y="14288"/>
                  </a:lnTo>
                  <a:lnTo>
                    <a:pt x="35358" y="16669"/>
                  </a:lnTo>
                  <a:lnTo>
                    <a:pt x="32254" y="19050"/>
                  </a:lnTo>
                  <a:lnTo>
                    <a:pt x="1368516" y="19050"/>
                  </a:lnTo>
                  <a:lnTo>
                    <a:pt x="1365412" y="16669"/>
                  </a:lnTo>
                  <a:lnTo>
                    <a:pt x="1361988" y="14288"/>
                  </a:lnTo>
                  <a:lnTo>
                    <a:pt x="1358167" y="11906"/>
                  </a:lnTo>
                  <a:lnTo>
                    <a:pt x="1353837" y="9525"/>
                  </a:lnTo>
                  <a:lnTo>
                    <a:pt x="1348803" y="7144"/>
                  </a:lnTo>
                  <a:lnTo>
                    <a:pt x="1342693" y="4763"/>
                  </a:lnTo>
                  <a:lnTo>
                    <a:pt x="1334550" y="2381"/>
                  </a:lnTo>
                  <a:lnTo>
                    <a:pt x="1314410" y="0"/>
                  </a:lnTo>
                  <a:close/>
                </a:path>
              </a:pathLst>
            </a:custGeom>
            <a:solidFill>
              <a:srgbClr val="5B9A8B"/>
            </a:solidFill>
            <a:ln/>
          </p:spPr>
          <p:txBody>
            <a:bodyPr wrap="none" rtlCol="0" anchor="t"/>
            <a:lstStyle/>
            <a:p>
              <a:pPr marL="0" indent="0">
                <a:buNone/>
              </a:pPr>
              <a:endParaRPr lang="en-US"/>
            </a:p>
          </p:txBody>
        </p:sp>
        <p:sp>
          <p:nvSpPr>
            <p:cNvPr id="32" name="Text 26"/>
            <p:cNvSpPr/>
            <p:nvPr/>
          </p:nvSpPr>
          <p:spPr>
            <a:xfrm>
              <a:off x="4414540" y="1143446"/>
              <a:ext cx="314920" cy="314920"/>
            </a:xfrm>
            <a:prstGeom prst="ellipse">
              <a:avLst/>
            </a:prstGeom>
            <a:solidFill>
              <a:srgbClr val="5B9A8B">
                <a:alpha val="12000"/>
              </a:srgbClr>
            </a:solidFill>
            <a:ln/>
          </p:spPr>
          <p:txBody>
            <a:bodyPr wrap="square" rtlCol="0" anchor="t"/>
            <a:lstStyle/>
            <a:p>
              <a:pPr marL="0" indent="0">
                <a:buNone/>
              </a:pPr>
              <a:endParaRPr lang="en-US"/>
            </a:p>
          </p:txBody>
        </p:sp>
        <p:pic>
          <p:nvPicPr>
            <p:cNvPr id="33" name="Image 4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505706" y="1234613"/>
              <a:ext cx="132588" cy="132588"/>
            </a:xfrm>
            <a:prstGeom prst="rect">
              <a:avLst/>
            </a:prstGeom>
          </p:spPr>
        </p:pic>
        <p:sp>
          <p:nvSpPr>
            <p:cNvPr id="34" name="Text 27"/>
            <p:cNvSpPr/>
            <p:nvPr/>
          </p:nvSpPr>
          <p:spPr>
            <a:xfrm>
              <a:off x="4154952" y="1624642"/>
              <a:ext cx="868787" cy="18276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440"/>
                </a:lnSpc>
                <a:buNone/>
              </a:pPr>
              <a:r>
                <a:rPr lang="en-US" sz="1600" b="1" kern="0" spc="20" dirty="0">
                  <a:solidFill>
                    <a:srgbClr val="5B9A8B"/>
                  </a:solidFill>
                  <a:latin typeface="Constantia" pitchFamily="34" charset="0"/>
                </a:rPr>
                <a:t>Medium</a:t>
              </a:r>
            </a:p>
          </p:txBody>
        </p:sp>
        <p:sp>
          <p:nvSpPr>
            <p:cNvPr id="35" name="Text 28"/>
            <p:cNvSpPr/>
            <p:nvPr/>
          </p:nvSpPr>
          <p:spPr>
            <a:xfrm>
              <a:off x="4113702" y="1928312"/>
              <a:ext cx="962989" cy="2628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ts val="986"/>
                </a:lnSpc>
              </a:pPr>
              <a:r>
                <a:rPr lang="en-US" sz="1000" dirty="0">
                  <a:solidFill>
                    <a:srgbClr val="8DA4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10,000–200,000</a:t>
              </a:r>
              <a:br>
                <a:rPr sz="1000" dirty="0">
                  <a:solidFill>
                    <a:srgbClr val="8DA4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1000" dirty="0">
                  <a:solidFill>
                    <a:srgbClr val="8DA4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parcels/year</a:t>
              </a:r>
            </a:p>
          </p:txBody>
        </p:sp>
        <p:sp>
          <p:nvSpPr>
            <p:cNvPr id="36" name="Text 29"/>
            <p:cNvSpPr/>
            <p:nvPr/>
          </p:nvSpPr>
          <p:spPr>
            <a:xfrm>
              <a:off x="4373739" y="2287055"/>
              <a:ext cx="396523" cy="27816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190"/>
                </a:lnSpc>
                <a:buNone/>
              </a:pPr>
              <a:r>
                <a:rPr lang="en-US" sz="1460" b="1" dirty="0">
                  <a:solidFill>
                    <a:srgbClr val="5B9A8B"/>
                  </a:solidFill>
                  <a:latin typeface="Constantia" pitchFamily="34" charset="0"/>
                  <a:ea typeface="Constantia" pitchFamily="34" charset="-122"/>
                  <a:cs typeface="Constantia" pitchFamily="34" charset="-120"/>
                </a:rPr>
                <a:t>10%</a:t>
              </a:r>
              <a:endParaRPr lang="en-US" sz="1460" dirty="0"/>
            </a:p>
          </p:txBody>
        </p:sp>
        <p:sp>
          <p:nvSpPr>
            <p:cNvPr id="37" name="Text 30"/>
            <p:cNvSpPr/>
            <p:nvPr/>
          </p:nvSpPr>
          <p:spPr>
            <a:xfrm>
              <a:off x="4307116" y="2571798"/>
              <a:ext cx="529769" cy="11802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930"/>
                </a:lnSpc>
                <a:buNone/>
              </a:pPr>
              <a:r>
                <a:rPr lang="en-US" sz="620" kern="0" spc="70" dirty="0">
                  <a:solidFill>
                    <a:srgbClr val="8DA4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DISCOUNT</a:t>
              </a:r>
              <a:endParaRPr lang="en-US" sz="620" dirty="0"/>
            </a:p>
          </p:txBody>
        </p:sp>
        <p:sp>
          <p:nvSpPr>
            <p:cNvPr id="38" name="Text 31"/>
            <p:cNvSpPr/>
            <p:nvPr/>
          </p:nvSpPr>
          <p:spPr>
            <a:xfrm>
              <a:off x="3987918" y="2856095"/>
              <a:ext cx="1119071" cy="204947"/>
            </a:xfrm>
            <a:prstGeom prst="roundRect">
              <a:avLst>
                <a:gd name="adj" fmla="val 21880"/>
              </a:avLst>
            </a:prstGeom>
            <a:solidFill>
              <a:srgbClr val="FFFFFF">
                <a:alpha val="4000"/>
              </a:srgbClr>
            </a:solidFill>
            <a:ln/>
          </p:spPr>
          <p:txBody>
            <a:bodyPr wrap="none" lIns="71120" tIns="29210" rIns="71120" bIns="29210" rtlCol="0" anchor="t"/>
            <a:lstStyle/>
            <a:p>
              <a:pPr marL="0" indent="0" algn="ctr">
                <a:lnSpc>
                  <a:spcPts val="1095"/>
                </a:lnSpc>
                <a:buNone/>
              </a:pPr>
              <a:r>
                <a:rPr lang="en-US" sz="900" dirty="0">
                  <a:solidFill>
                    <a:srgbClr val="8DA4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Net: </a:t>
              </a:r>
              <a:r>
                <a:rPr lang="en-US" sz="900" b="1" dirty="0">
                  <a:solidFill>
                    <a:srgbClr val="F0F4F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$19.80</a:t>
              </a:r>
              <a:r>
                <a:rPr lang="en-US" sz="900" dirty="0">
                  <a:solidFill>
                    <a:srgbClr val="8DA4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/parcel</a:t>
              </a:r>
              <a:endParaRPr lang="en-US" sz="900" dirty="0"/>
            </a:p>
          </p:txBody>
        </p:sp>
      </p:grpSp>
      <p:pic>
        <p:nvPicPr>
          <p:cNvPr id="39" name="Image 5" descr="preencoded.png"/>
          <p:cNvPicPr>
            <a:picLocks noChangeAspect="1"/>
          </p:cNvPicPr>
          <p:nvPr/>
        </p:nvPicPr>
        <p:blipFill>
          <a:blip>
            <a:alphaModFix amt="45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97350" y="2377732"/>
            <a:ext cx="463191" cy="463191"/>
          </a:xfrm>
          <a:prstGeom prst="rect">
            <a:avLst/>
          </a:prstGeom>
        </p:spPr>
      </p:pic>
      <p:grpSp>
        <p:nvGrpSpPr>
          <p:cNvPr id="90" name="Group 89">
            <a:extLst>
              <a:ext uri="{FF2B5EF4-FFF2-40B4-BE49-F238E27FC236}">
                <a16:creationId xmlns:a16="http://schemas.microsoft.com/office/drawing/2014/main" id="{2D20F3DA-2AFE-DB28-55DC-F73D1B1F804F}"/>
              </a:ext>
            </a:extLst>
          </p:cNvPr>
          <p:cNvGrpSpPr/>
          <p:nvPr/>
        </p:nvGrpSpPr>
        <p:grpSpPr>
          <a:xfrm>
            <a:off x="6992534" y="995511"/>
            <a:ext cx="1400770" cy="2923580"/>
            <a:chOff x="5379988" y="1024086"/>
            <a:chExt cx="1400770" cy="2895005"/>
          </a:xfrm>
        </p:grpSpPr>
        <p:sp>
          <p:nvSpPr>
            <p:cNvPr id="40" name="Text 32"/>
            <p:cNvSpPr/>
            <p:nvPr/>
          </p:nvSpPr>
          <p:spPr>
            <a:xfrm>
              <a:off x="5379988" y="1024086"/>
              <a:ext cx="1400770" cy="2895005"/>
            </a:xfrm>
            <a:prstGeom prst="roundRect">
              <a:avLst>
                <a:gd name="adj" fmla="val 6165"/>
              </a:avLst>
            </a:prstGeom>
            <a:gradFill rotWithShape="1">
              <a:gsLst>
                <a:gs pos="0">
                  <a:srgbClr val="9B7EC8">
                    <a:alpha val="8000"/>
                  </a:srgbClr>
                </a:gs>
                <a:gs pos="40000">
                  <a:srgbClr val="162A4A"/>
                </a:gs>
              </a:gsLst>
              <a:lin ang="5400000" scaled="1"/>
            </a:gradFill>
            <a:ln/>
          </p:spPr>
          <p:txBody>
            <a:bodyPr wrap="square" rtlCol="0" anchor="t"/>
            <a:lstStyle/>
            <a:p>
              <a:endParaRPr lang="en-US" dirty="0"/>
            </a:p>
          </p:txBody>
        </p:sp>
        <p:sp>
          <p:nvSpPr>
            <p:cNvPr id="41" name="Text 33"/>
            <p:cNvSpPr/>
            <p:nvPr/>
          </p:nvSpPr>
          <p:spPr>
            <a:xfrm>
              <a:off x="5379988" y="1024086"/>
              <a:ext cx="9525" cy="2895005"/>
            </a:xfrm>
            <a:custGeom>
              <a:avLst/>
              <a:gdLst/>
              <a:ahLst/>
              <a:cxnLst/>
              <a:rect l="l" t="t" r="r" b="b"/>
              <a:pathLst>
                <a:path w="9525" h="2895005">
                  <a:moveTo>
                    <a:pt x="0" y="86360"/>
                  </a:moveTo>
                  <a:lnTo>
                    <a:pt x="1191" y="72069"/>
                  </a:lnTo>
                  <a:lnTo>
                    <a:pt x="2381" y="66220"/>
                  </a:lnTo>
                  <a:lnTo>
                    <a:pt x="3572" y="61780"/>
                  </a:lnTo>
                  <a:lnTo>
                    <a:pt x="4763" y="58078"/>
                  </a:lnTo>
                  <a:lnTo>
                    <a:pt x="5953" y="54852"/>
                  </a:lnTo>
                  <a:lnTo>
                    <a:pt x="7144" y="51968"/>
                  </a:lnTo>
                  <a:lnTo>
                    <a:pt x="8334" y="49346"/>
                  </a:lnTo>
                  <a:lnTo>
                    <a:pt x="9525" y="46934"/>
                  </a:lnTo>
                  <a:lnTo>
                    <a:pt x="9525" y="2848071"/>
                  </a:lnTo>
                  <a:lnTo>
                    <a:pt x="8334" y="2845659"/>
                  </a:lnTo>
                  <a:lnTo>
                    <a:pt x="7144" y="2843037"/>
                  </a:lnTo>
                  <a:lnTo>
                    <a:pt x="5953" y="2840153"/>
                  </a:lnTo>
                  <a:lnTo>
                    <a:pt x="4763" y="2836927"/>
                  </a:lnTo>
                  <a:lnTo>
                    <a:pt x="3572" y="2833225"/>
                  </a:lnTo>
                  <a:lnTo>
                    <a:pt x="2381" y="2828785"/>
                  </a:lnTo>
                  <a:lnTo>
                    <a:pt x="1191" y="2822935"/>
                  </a:lnTo>
                  <a:lnTo>
                    <a:pt x="0" y="2808645"/>
                  </a:lnTo>
                  <a:close/>
                </a:path>
              </a:pathLst>
            </a:custGeom>
            <a:solidFill>
              <a:srgbClr val="D4A843">
                <a:alpha val="12000"/>
              </a:srgbClr>
            </a:solidFill>
            <a:ln/>
          </p:spPr>
          <p:txBody>
            <a:bodyPr wrap="square" rtlCol="0" anchor="t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42" name="Text 34"/>
            <p:cNvSpPr/>
            <p:nvPr/>
          </p:nvSpPr>
          <p:spPr>
            <a:xfrm>
              <a:off x="6771233" y="1024086"/>
              <a:ext cx="9525" cy="2895005"/>
            </a:xfrm>
            <a:custGeom>
              <a:avLst/>
              <a:gdLst/>
              <a:ahLst/>
              <a:cxnLst/>
              <a:rect l="l" t="t" r="r" b="b"/>
              <a:pathLst>
                <a:path w="9525" h="2895005">
                  <a:moveTo>
                    <a:pt x="0" y="46934"/>
                  </a:moveTo>
                  <a:lnTo>
                    <a:pt x="1191" y="49346"/>
                  </a:lnTo>
                  <a:lnTo>
                    <a:pt x="2381" y="51968"/>
                  </a:lnTo>
                  <a:lnTo>
                    <a:pt x="3572" y="54852"/>
                  </a:lnTo>
                  <a:lnTo>
                    <a:pt x="4763" y="58078"/>
                  </a:lnTo>
                  <a:lnTo>
                    <a:pt x="5953" y="61780"/>
                  </a:lnTo>
                  <a:lnTo>
                    <a:pt x="7144" y="66220"/>
                  </a:lnTo>
                  <a:lnTo>
                    <a:pt x="8334" y="72069"/>
                  </a:lnTo>
                  <a:lnTo>
                    <a:pt x="9525" y="86360"/>
                  </a:lnTo>
                  <a:lnTo>
                    <a:pt x="9525" y="2808645"/>
                  </a:lnTo>
                  <a:lnTo>
                    <a:pt x="8334" y="2822935"/>
                  </a:lnTo>
                  <a:lnTo>
                    <a:pt x="7144" y="2828785"/>
                  </a:lnTo>
                  <a:lnTo>
                    <a:pt x="5953" y="2833225"/>
                  </a:lnTo>
                  <a:lnTo>
                    <a:pt x="4763" y="2836927"/>
                  </a:lnTo>
                  <a:lnTo>
                    <a:pt x="3572" y="2840153"/>
                  </a:lnTo>
                  <a:lnTo>
                    <a:pt x="2381" y="2843037"/>
                  </a:lnTo>
                  <a:lnTo>
                    <a:pt x="1191" y="2845659"/>
                  </a:lnTo>
                  <a:lnTo>
                    <a:pt x="0" y="2848071"/>
                  </a:lnTo>
                  <a:close/>
                </a:path>
              </a:pathLst>
            </a:custGeom>
            <a:solidFill>
              <a:srgbClr val="D4A843">
                <a:alpha val="12000"/>
              </a:srgbClr>
            </a:solidFill>
            <a:ln/>
          </p:spPr>
          <p:txBody>
            <a:bodyPr wrap="square" rtlCol="0" anchor="t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43" name="Text 35"/>
            <p:cNvSpPr/>
            <p:nvPr/>
          </p:nvSpPr>
          <p:spPr>
            <a:xfrm>
              <a:off x="5379988" y="1024086"/>
              <a:ext cx="1400770" cy="19050"/>
            </a:xfrm>
            <a:custGeom>
              <a:avLst/>
              <a:gdLst/>
              <a:ahLst/>
              <a:cxnLst/>
              <a:rect l="l" t="t" r="r" b="b"/>
              <a:pathLst>
                <a:path w="1400770" h="19050">
                  <a:moveTo>
                    <a:pt x="86360" y="0"/>
                  </a:moveTo>
                  <a:lnTo>
                    <a:pt x="66220" y="2381"/>
                  </a:lnTo>
                  <a:lnTo>
                    <a:pt x="58078" y="4763"/>
                  </a:lnTo>
                  <a:lnTo>
                    <a:pt x="51968" y="7144"/>
                  </a:lnTo>
                  <a:lnTo>
                    <a:pt x="46934" y="9525"/>
                  </a:lnTo>
                  <a:lnTo>
                    <a:pt x="42603" y="11906"/>
                  </a:lnTo>
                  <a:lnTo>
                    <a:pt x="38783" y="14288"/>
                  </a:lnTo>
                  <a:lnTo>
                    <a:pt x="35358" y="16669"/>
                  </a:lnTo>
                  <a:lnTo>
                    <a:pt x="32254" y="19050"/>
                  </a:lnTo>
                  <a:lnTo>
                    <a:pt x="1368516" y="19050"/>
                  </a:lnTo>
                  <a:lnTo>
                    <a:pt x="1365412" y="16669"/>
                  </a:lnTo>
                  <a:lnTo>
                    <a:pt x="1361988" y="14288"/>
                  </a:lnTo>
                  <a:lnTo>
                    <a:pt x="1358167" y="11906"/>
                  </a:lnTo>
                  <a:lnTo>
                    <a:pt x="1353837" y="9525"/>
                  </a:lnTo>
                  <a:lnTo>
                    <a:pt x="1348803" y="7144"/>
                  </a:lnTo>
                  <a:lnTo>
                    <a:pt x="1342693" y="4763"/>
                  </a:lnTo>
                  <a:lnTo>
                    <a:pt x="1334550" y="2381"/>
                  </a:lnTo>
                  <a:lnTo>
                    <a:pt x="1314410" y="0"/>
                  </a:lnTo>
                  <a:close/>
                </a:path>
              </a:pathLst>
            </a:custGeom>
            <a:solidFill>
              <a:srgbClr val="9B7EC8"/>
            </a:solidFill>
            <a:ln/>
          </p:spPr>
          <p:txBody>
            <a:bodyPr wrap="none" rtlCol="0" anchor="t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44" name="Text 36"/>
            <p:cNvSpPr/>
            <p:nvPr/>
          </p:nvSpPr>
          <p:spPr>
            <a:xfrm>
              <a:off x="5922913" y="1143446"/>
              <a:ext cx="314920" cy="314920"/>
            </a:xfrm>
            <a:prstGeom prst="ellipse">
              <a:avLst/>
            </a:prstGeom>
            <a:solidFill>
              <a:srgbClr val="9B7EC8">
                <a:alpha val="12000"/>
              </a:srgbClr>
            </a:solidFill>
            <a:ln/>
          </p:spPr>
          <p:txBody>
            <a:bodyPr wrap="square" rtlCol="0" anchor="t"/>
            <a:lstStyle/>
            <a:p>
              <a:pPr marL="0" indent="0">
                <a:buNone/>
              </a:pPr>
              <a:endParaRPr lang="en-US" dirty="0"/>
            </a:p>
          </p:txBody>
        </p:sp>
        <p:pic>
          <p:nvPicPr>
            <p:cNvPr id="45" name="Image 6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014079" y="1234613"/>
              <a:ext cx="132588" cy="132588"/>
            </a:xfrm>
            <a:prstGeom prst="rect">
              <a:avLst/>
            </a:prstGeom>
          </p:spPr>
        </p:pic>
        <p:sp>
          <p:nvSpPr>
            <p:cNvPr id="46" name="Text 37"/>
            <p:cNvSpPr/>
            <p:nvPr/>
          </p:nvSpPr>
          <p:spPr>
            <a:xfrm>
              <a:off x="5786462" y="1613551"/>
              <a:ext cx="585553" cy="16287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440"/>
                </a:lnSpc>
                <a:buNone/>
              </a:pPr>
              <a:r>
                <a:rPr lang="en-US" sz="1600" b="1" kern="0" spc="20" dirty="0">
                  <a:solidFill>
                    <a:srgbClr val="9B7EC8"/>
                  </a:solidFill>
                  <a:latin typeface="Constantia" pitchFamily="34" charset="0"/>
                  <a:ea typeface="Constantia" pitchFamily="34" charset="-122"/>
                  <a:cs typeface="Constantia" pitchFamily="34" charset="-120"/>
                </a:rPr>
                <a:t>Small</a:t>
              </a:r>
              <a:endParaRPr lang="en-US" sz="1300" dirty="0"/>
            </a:p>
          </p:txBody>
        </p:sp>
        <p:sp>
          <p:nvSpPr>
            <p:cNvPr id="47" name="Text 38"/>
            <p:cNvSpPr/>
            <p:nvPr/>
          </p:nvSpPr>
          <p:spPr>
            <a:xfrm>
              <a:off x="5520270" y="1921144"/>
              <a:ext cx="1181685" cy="2628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ts val="986"/>
                </a:lnSpc>
                <a:buNone/>
              </a:pPr>
              <a:r>
                <a:rPr lang="en-US" sz="1000" dirty="0">
                  <a:solidFill>
                    <a:srgbClr val="8DA4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1,000–10,000</a:t>
              </a:r>
              <a:br>
                <a:rPr sz="1000" dirty="0"/>
              </a:br>
              <a:r>
                <a:rPr lang="en-US" sz="1000" dirty="0">
                  <a:solidFill>
                    <a:srgbClr val="8DA4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parcels/year</a:t>
              </a:r>
              <a:endParaRPr lang="en-US" sz="1000" dirty="0"/>
            </a:p>
          </p:txBody>
        </p:sp>
        <p:sp>
          <p:nvSpPr>
            <p:cNvPr id="48" name="Text 39"/>
            <p:cNvSpPr/>
            <p:nvPr/>
          </p:nvSpPr>
          <p:spPr>
            <a:xfrm>
              <a:off x="5931637" y="2240696"/>
              <a:ext cx="297472" cy="27816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190"/>
                </a:lnSpc>
                <a:buNone/>
              </a:pPr>
              <a:r>
                <a:rPr lang="en-US" sz="1460" b="1" dirty="0">
                  <a:solidFill>
                    <a:srgbClr val="9B7EC8"/>
                  </a:solidFill>
                  <a:latin typeface="Constantia" pitchFamily="34" charset="0"/>
                  <a:ea typeface="Constantia" pitchFamily="34" charset="-122"/>
                  <a:cs typeface="Constantia" pitchFamily="34" charset="-120"/>
                </a:rPr>
                <a:t>4%</a:t>
              </a:r>
              <a:endParaRPr lang="en-US" sz="1460" dirty="0"/>
            </a:p>
          </p:txBody>
        </p:sp>
        <p:sp>
          <p:nvSpPr>
            <p:cNvPr id="49" name="Text 40"/>
            <p:cNvSpPr/>
            <p:nvPr/>
          </p:nvSpPr>
          <p:spPr>
            <a:xfrm>
              <a:off x="5815489" y="2546572"/>
              <a:ext cx="529769" cy="11802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930"/>
                </a:lnSpc>
                <a:buNone/>
              </a:pPr>
              <a:r>
                <a:rPr lang="en-US" sz="620" kern="0" spc="70" dirty="0">
                  <a:solidFill>
                    <a:srgbClr val="8DA4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DISCOUNT</a:t>
              </a:r>
              <a:endParaRPr lang="en-US" sz="620" dirty="0"/>
            </a:p>
          </p:txBody>
        </p:sp>
        <p:sp>
          <p:nvSpPr>
            <p:cNvPr id="50" name="Text 41"/>
            <p:cNvSpPr/>
            <p:nvPr/>
          </p:nvSpPr>
          <p:spPr>
            <a:xfrm>
              <a:off x="5544697" y="2864447"/>
              <a:ext cx="1129585" cy="202944"/>
            </a:xfrm>
            <a:prstGeom prst="roundRect">
              <a:avLst>
                <a:gd name="adj" fmla="val 21880"/>
              </a:avLst>
            </a:prstGeom>
            <a:solidFill>
              <a:srgbClr val="FFFFFF">
                <a:alpha val="4000"/>
              </a:srgbClr>
            </a:solidFill>
            <a:ln/>
          </p:spPr>
          <p:txBody>
            <a:bodyPr wrap="none" lIns="71120" tIns="29210" rIns="71120" bIns="29210" rtlCol="0" anchor="t"/>
            <a:lstStyle/>
            <a:p>
              <a:pPr marL="0" indent="0" algn="ctr">
                <a:lnSpc>
                  <a:spcPts val="1095"/>
                </a:lnSpc>
                <a:buNone/>
              </a:pPr>
              <a:r>
                <a:rPr lang="en-US" sz="900" dirty="0">
                  <a:solidFill>
                    <a:srgbClr val="8DA4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Net: </a:t>
              </a:r>
              <a:r>
                <a:rPr lang="en-US" sz="900" b="1" dirty="0">
                  <a:solidFill>
                    <a:srgbClr val="F0F4F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$21.12</a:t>
              </a:r>
              <a:r>
                <a:rPr lang="en-US" sz="900" dirty="0">
                  <a:solidFill>
                    <a:srgbClr val="8DA4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/parcel</a:t>
              </a:r>
              <a:endParaRPr lang="en-US" sz="900" dirty="0"/>
            </a:p>
          </p:txBody>
        </p:sp>
      </p:grpSp>
      <p:pic>
        <p:nvPicPr>
          <p:cNvPr id="64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5669" y="4066663"/>
            <a:ext cx="132588" cy="132588"/>
          </a:xfrm>
          <a:prstGeom prst="rect">
            <a:avLst/>
          </a:prstGeom>
        </p:spPr>
      </p:pic>
      <p:sp>
        <p:nvSpPr>
          <p:cNvPr id="65" name="Text 53"/>
          <p:cNvSpPr/>
          <p:nvPr/>
        </p:nvSpPr>
        <p:spPr>
          <a:xfrm>
            <a:off x="581025" y="4047232"/>
            <a:ext cx="117479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0F4F8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Growth Classification</a:t>
            </a:r>
            <a:endParaRPr lang="en-US" sz="900" dirty="0"/>
          </a:p>
        </p:txBody>
      </p:sp>
      <p:sp>
        <p:nvSpPr>
          <p:cNvPr id="66" name="Text 54"/>
          <p:cNvSpPr/>
          <p:nvPr/>
        </p:nvSpPr>
        <p:spPr>
          <a:xfrm>
            <a:off x="1829819" y="4089202"/>
            <a:ext cx="654353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8D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ISGR = 11.40%</a:t>
            </a:r>
            <a:endParaRPr lang="en-US" sz="680" dirty="0"/>
          </a:p>
        </p:txBody>
      </p:sp>
      <p:sp>
        <p:nvSpPr>
          <p:cNvPr id="67" name="Text 55"/>
          <p:cNvSpPr/>
          <p:nvPr/>
        </p:nvSpPr>
        <p:spPr>
          <a:xfrm>
            <a:off x="429220" y="4289673"/>
            <a:ext cx="8343900" cy="653207"/>
          </a:xfrm>
          <a:prstGeom prst="roundRect">
            <a:avLst>
              <a:gd name="adj" fmla="val 10888"/>
            </a:avLst>
          </a:prstGeom>
          <a:solidFill>
            <a:srgbClr val="162A4A"/>
          </a:solidFill>
          <a:ln w="9525">
            <a:solidFill>
              <a:srgbClr val="D4A843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68" name="Text 56"/>
          <p:cNvSpPr/>
          <p:nvPr/>
        </p:nvSpPr>
        <p:spPr>
          <a:xfrm>
            <a:off x="1272480" y="4399508"/>
            <a:ext cx="70991" cy="70991"/>
          </a:xfrm>
          <a:prstGeom prst="ellipse">
            <a:avLst/>
          </a:prstGeom>
          <a:solidFill>
            <a:srgbClr val="4ADE8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69" name="Text 57"/>
          <p:cNvSpPr/>
          <p:nvPr/>
        </p:nvSpPr>
        <p:spPr>
          <a:xfrm>
            <a:off x="1018944" y="4505920"/>
            <a:ext cx="578063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76"/>
              </a:lnSpc>
              <a:buNone/>
            </a:pPr>
            <a:r>
              <a:rPr lang="en-US" sz="1000" b="1" dirty="0">
                <a:solidFill>
                  <a:srgbClr val="4ADE8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High Growth</a:t>
            </a:r>
            <a:endParaRPr lang="en-US" sz="1000" dirty="0"/>
          </a:p>
        </p:txBody>
      </p:sp>
      <p:sp>
        <p:nvSpPr>
          <p:cNvPr id="70" name="Text 58"/>
          <p:cNvSpPr/>
          <p:nvPr/>
        </p:nvSpPr>
        <p:spPr>
          <a:xfrm>
            <a:off x="706208" y="4666388"/>
            <a:ext cx="1107491" cy="225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767"/>
              </a:lnSpc>
              <a:buNone/>
            </a:pPr>
            <a:r>
              <a:rPr lang="en-US" sz="900" dirty="0">
                <a:solidFill>
                  <a:srgbClr val="8D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&gt; ISGR</a:t>
            </a:r>
            <a:br>
              <a:rPr sz="2800" dirty="0"/>
            </a:br>
            <a:r>
              <a:rPr lang="en-US" sz="900" dirty="0">
                <a:solidFill>
                  <a:srgbClr val="8D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(above 11.40%)</a:t>
            </a:r>
            <a:endParaRPr lang="en-US" sz="900" dirty="0"/>
          </a:p>
        </p:txBody>
      </p:sp>
      <p:sp>
        <p:nvSpPr>
          <p:cNvPr id="71" name="Text 59"/>
          <p:cNvSpPr/>
          <p:nvPr/>
        </p:nvSpPr>
        <p:spPr>
          <a:xfrm>
            <a:off x="2120205" y="4399508"/>
            <a:ext cx="7590" cy="433536"/>
          </a:xfrm>
          <a:prstGeom prst="rect">
            <a:avLst/>
          </a:prstGeom>
          <a:solidFill>
            <a:srgbClr val="8DA4BF">
              <a:alpha val="2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72" name="Text 60"/>
          <p:cNvSpPr/>
          <p:nvPr/>
        </p:nvSpPr>
        <p:spPr>
          <a:xfrm>
            <a:off x="2904530" y="4399508"/>
            <a:ext cx="70991" cy="70991"/>
          </a:xfrm>
          <a:prstGeom prst="ellipse">
            <a:avLst/>
          </a:prstGeom>
          <a:solidFill>
            <a:srgbClr val="6BA3D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73" name="Text 61"/>
          <p:cNvSpPr/>
          <p:nvPr/>
        </p:nvSpPr>
        <p:spPr>
          <a:xfrm>
            <a:off x="2484172" y="4505920"/>
            <a:ext cx="911706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76"/>
              </a:lnSpc>
              <a:buNone/>
            </a:pPr>
            <a:r>
              <a:rPr lang="en-US" sz="1000" b="1" dirty="0">
                <a:solidFill>
                  <a:srgbClr val="6BA3D6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Moderately Growing</a:t>
            </a:r>
            <a:endParaRPr lang="en-US" sz="1000" dirty="0"/>
          </a:p>
        </p:txBody>
      </p:sp>
      <p:sp>
        <p:nvSpPr>
          <p:cNvPr id="74" name="Text 62"/>
          <p:cNvSpPr/>
          <p:nvPr/>
        </p:nvSpPr>
        <p:spPr>
          <a:xfrm>
            <a:off x="2347704" y="4681047"/>
            <a:ext cx="1137345" cy="211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767"/>
              </a:lnSpc>
              <a:buNone/>
            </a:pPr>
            <a:r>
              <a:rPr lang="en-US" sz="900" dirty="0">
                <a:solidFill>
                  <a:srgbClr val="8D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≤ Growth ≤ ISGR</a:t>
            </a:r>
            <a:br>
              <a:rPr sz="2800" dirty="0"/>
            </a:br>
            <a:r>
              <a:rPr lang="en-US" sz="900" dirty="0">
                <a:solidFill>
                  <a:srgbClr val="8D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(0% to 11.40%)</a:t>
            </a:r>
            <a:endParaRPr lang="en-US" sz="900" dirty="0"/>
          </a:p>
        </p:txBody>
      </p:sp>
      <p:sp>
        <p:nvSpPr>
          <p:cNvPr id="75" name="Text 63"/>
          <p:cNvSpPr/>
          <p:nvPr/>
        </p:nvSpPr>
        <p:spPr>
          <a:xfrm>
            <a:off x="3752255" y="4399508"/>
            <a:ext cx="7590" cy="433536"/>
          </a:xfrm>
          <a:prstGeom prst="rect">
            <a:avLst/>
          </a:prstGeom>
          <a:solidFill>
            <a:srgbClr val="8DA4BF">
              <a:alpha val="2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76" name="Text 64"/>
          <p:cNvSpPr/>
          <p:nvPr/>
        </p:nvSpPr>
        <p:spPr>
          <a:xfrm>
            <a:off x="4536430" y="4399508"/>
            <a:ext cx="70991" cy="70991"/>
          </a:xfrm>
          <a:prstGeom prst="ellipse">
            <a:avLst/>
          </a:prstGeom>
          <a:solidFill>
            <a:srgbClr val="F59E42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77" name="Text 65"/>
          <p:cNvSpPr/>
          <p:nvPr/>
        </p:nvSpPr>
        <p:spPr>
          <a:xfrm>
            <a:off x="4365404" y="4505920"/>
            <a:ext cx="413043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76"/>
              </a:lnSpc>
              <a:buNone/>
            </a:pPr>
            <a:r>
              <a:rPr lang="en-US" sz="1000" b="1" dirty="0">
                <a:solidFill>
                  <a:srgbClr val="F59E42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Declining</a:t>
            </a:r>
            <a:endParaRPr lang="en-US" sz="1000" dirty="0"/>
          </a:p>
        </p:txBody>
      </p:sp>
      <p:sp>
        <p:nvSpPr>
          <p:cNvPr id="78" name="Text 66"/>
          <p:cNvSpPr/>
          <p:nvPr/>
        </p:nvSpPr>
        <p:spPr>
          <a:xfrm>
            <a:off x="4078026" y="4670537"/>
            <a:ext cx="1088134" cy="194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767"/>
              </a:lnSpc>
              <a:buNone/>
            </a:pPr>
            <a:r>
              <a:rPr lang="en-US" sz="900" dirty="0">
                <a:solidFill>
                  <a:srgbClr val="8D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growth</a:t>
            </a:r>
            <a:br>
              <a:rPr sz="2800" dirty="0"/>
            </a:br>
            <a:r>
              <a:rPr lang="en-US" sz="900" dirty="0">
                <a:solidFill>
                  <a:srgbClr val="8D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(below 0%)</a:t>
            </a:r>
            <a:endParaRPr lang="en-US" sz="900" dirty="0"/>
          </a:p>
        </p:txBody>
      </p:sp>
      <p:sp>
        <p:nvSpPr>
          <p:cNvPr id="79" name="Text 67"/>
          <p:cNvSpPr/>
          <p:nvPr/>
        </p:nvSpPr>
        <p:spPr>
          <a:xfrm>
            <a:off x="5384155" y="4399508"/>
            <a:ext cx="7590" cy="433536"/>
          </a:xfrm>
          <a:prstGeom prst="rect">
            <a:avLst/>
          </a:prstGeom>
          <a:solidFill>
            <a:srgbClr val="8DA4BF">
              <a:alpha val="2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80" name="Text 68"/>
          <p:cNvSpPr/>
          <p:nvPr/>
        </p:nvSpPr>
        <p:spPr>
          <a:xfrm>
            <a:off x="6168479" y="4399508"/>
            <a:ext cx="70991" cy="70991"/>
          </a:xfrm>
          <a:prstGeom prst="ellipse">
            <a:avLst/>
          </a:prstGeom>
          <a:solidFill>
            <a:srgbClr val="EF444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81" name="Text 69"/>
          <p:cNvSpPr/>
          <p:nvPr/>
        </p:nvSpPr>
        <p:spPr>
          <a:xfrm>
            <a:off x="5880073" y="4505920"/>
            <a:ext cx="647804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76"/>
              </a:lnSpc>
              <a:buNone/>
            </a:pPr>
            <a:r>
              <a:rPr lang="en-US" sz="1000" b="1" dirty="0">
                <a:solidFill>
                  <a:srgbClr val="EF4444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Lost Customer</a:t>
            </a:r>
            <a:endParaRPr lang="en-US" sz="1000" dirty="0"/>
          </a:p>
        </p:txBody>
      </p:sp>
      <p:sp>
        <p:nvSpPr>
          <p:cNvPr id="82" name="Text 70"/>
          <p:cNvSpPr/>
          <p:nvPr/>
        </p:nvSpPr>
        <p:spPr>
          <a:xfrm>
            <a:off x="5708773" y="4662242"/>
            <a:ext cx="1108548" cy="202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767"/>
              </a:lnSpc>
              <a:buNone/>
            </a:pPr>
            <a:r>
              <a:rPr lang="en-US" sz="900" dirty="0">
                <a:solidFill>
                  <a:srgbClr val="8D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 parcels pre-COVID,</a:t>
            </a:r>
            <a:br>
              <a:rPr sz="2800" dirty="0"/>
            </a:br>
            <a:r>
              <a:rPr lang="en-US" sz="900" dirty="0">
                <a:solidFill>
                  <a:srgbClr val="8D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during COVID period</a:t>
            </a:r>
            <a:endParaRPr lang="en-US" sz="900" dirty="0"/>
          </a:p>
        </p:txBody>
      </p:sp>
      <p:sp>
        <p:nvSpPr>
          <p:cNvPr id="83" name="Text 71"/>
          <p:cNvSpPr/>
          <p:nvPr/>
        </p:nvSpPr>
        <p:spPr>
          <a:xfrm>
            <a:off x="7016204" y="4399508"/>
            <a:ext cx="7590" cy="433536"/>
          </a:xfrm>
          <a:prstGeom prst="rect">
            <a:avLst/>
          </a:prstGeom>
          <a:solidFill>
            <a:srgbClr val="8DA4BF">
              <a:alpha val="2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84" name="Text 72"/>
          <p:cNvSpPr/>
          <p:nvPr/>
        </p:nvSpPr>
        <p:spPr>
          <a:xfrm>
            <a:off x="7800380" y="4399508"/>
            <a:ext cx="70991" cy="70991"/>
          </a:xfrm>
          <a:prstGeom prst="ellipse">
            <a:avLst/>
          </a:prstGeom>
          <a:solidFill>
            <a:srgbClr val="A78BFA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85" name="Text 73"/>
          <p:cNvSpPr/>
          <p:nvPr/>
        </p:nvSpPr>
        <p:spPr>
          <a:xfrm>
            <a:off x="7512129" y="4505920"/>
            <a:ext cx="647640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76"/>
              </a:lnSpc>
              <a:buNone/>
            </a:pPr>
            <a:r>
              <a:rPr lang="en-US" sz="1000" b="1" dirty="0">
                <a:solidFill>
                  <a:srgbClr val="A78BFA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New Customer</a:t>
            </a:r>
            <a:endParaRPr lang="en-US" sz="1000" dirty="0"/>
          </a:p>
        </p:txBody>
      </p:sp>
      <p:sp>
        <p:nvSpPr>
          <p:cNvPr id="86" name="Text 74"/>
          <p:cNvSpPr/>
          <p:nvPr/>
        </p:nvSpPr>
        <p:spPr>
          <a:xfrm>
            <a:off x="7260763" y="4662242"/>
            <a:ext cx="1237812" cy="246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767"/>
              </a:lnSpc>
              <a:buNone/>
            </a:pPr>
            <a:r>
              <a:rPr lang="en-US" sz="900" dirty="0">
                <a:solidFill>
                  <a:srgbClr val="8D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pre-COVID history,</a:t>
            </a:r>
            <a:br>
              <a:rPr sz="2800" dirty="0"/>
            </a:br>
            <a:r>
              <a:rPr lang="en-US" sz="900" dirty="0">
                <a:solidFill>
                  <a:srgbClr val="8D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1+ parcels during COVID</a:t>
            </a:r>
            <a:endParaRPr lang="en-US" sz="900" dirty="0"/>
          </a:p>
        </p:txBody>
      </p:sp>
      <p:pic>
        <p:nvPicPr>
          <p:cNvPr id="91" name="Image 5" descr="preencoded.png">
            <a:extLst>
              <a:ext uri="{FF2B5EF4-FFF2-40B4-BE49-F238E27FC236}">
                <a16:creationId xmlns:a16="http://schemas.microsoft.com/office/drawing/2014/main" id="{F080FEB8-41F2-253E-348A-7E9CD2CB0CDE}"/>
              </a:ext>
            </a:extLst>
          </p:cNvPr>
          <p:cNvPicPr>
            <a:picLocks noChangeAspect="1"/>
          </p:cNvPicPr>
          <p:nvPr/>
        </p:nvPicPr>
        <p:blipFill>
          <a:blip>
            <a:alphaModFix amt="45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39655" y="2376411"/>
            <a:ext cx="463191" cy="463191"/>
          </a:xfrm>
          <a:prstGeom prst="rect">
            <a:avLst/>
          </a:prstGeom>
        </p:spPr>
      </p:pic>
      <p:pic>
        <p:nvPicPr>
          <p:cNvPr id="92" name="Image 5" descr="preencoded.png">
            <a:extLst>
              <a:ext uri="{FF2B5EF4-FFF2-40B4-BE49-F238E27FC236}">
                <a16:creationId xmlns:a16="http://schemas.microsoft.com/office/drawing/2014/main" id="{17E9125C-C551-37F5-E306-11D78831AE14}"/>
              </a:ext>
            </a:extLst>
          </p:cNvPr>
          <p:cNvPicPr>
            <a:picLocks noChangeAspect="1"/>
          </p:cNvPicPr>
          <p:nvPr/>
        </p:nvPicPr>
        <p:blipFill>
          <a:blip>
            <a:alphaModFix amt="45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27362" y="2351518"/>
            <a:ext cx="463191" cy="46319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460325"/>
            <a:ext cx="35421" cy="285750"/>
          </a:xfrm>
          <a:prstGeom prst="roundRect">
            <a:avLst>
              <a:gd name="adj" fmla="val 60953"/>
            </a:avLst>
          </a:prstGeom>
          <a:solidFill>
            <a:srgbClr val="D4A84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9771" y="407045"/>
            <a:ext cx="1102221" cy="177299"/>
          </a:xfrm>
          <a:prstGeom prst="roundRect">
            <a:avLst>
              <a:gd name="adj" fmla="val 16475"/>
            </a:avLst>
          </a:prstGeom>
          <a:solidFill>
            <a:srgbClr val="D4A843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ANALYSIS</a:t>
            </a:r>
            <a:endParaRPr lang="en-US" sz="620"/>
          </a:p>
        </p:txBody>
      </p:sp>
      <p:sp>
        <p:nvSpPr>
          <p:cNvPr id="4" name="Text 2"/>
          <p:cNvSpPr/>
          <p:nvPr/>
        </p:nvSpPr>
        <p:spPr>
          <a:xfrm>
            <a:off x="549771" y="600670"/>
            <a:ext cx="3265341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070"/>
              </a:lnSpc>
              <a:spcBef>
                <a:spcPts val="230"/>
              </a:spcBef>
              <a:buNone/>
            </a:pPr>
            <a:r>
              <a:rPr lang="en-US" sz="1800" b="1" kern="0" spc="-20">
                <a:solidFill>
                  <a:srgbClr val="F0F4F8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New Customers During COVID</a:t>
            </a:r>
            <a:endParaRPr lang="en-US" sz="1800"/>
          </a:p>
        </p:txBody>
      </p:sp>
      <p:sp>
        <p:nvSpPr>
          <p:cNvPr id="5" name="Text 3"/>
          <p:cNvSpPr/>
          <p:nvPr/>
        </p:nvSpPr>
        <p:spPr>
          <a:xfrm>
            <a:off x="400050" y="934492"/>
            <a:ext cx="8343900" cy="518437"/>
          </a:xfrm>
          <a:prstGeom prst="rect">
            <a:avLst/>
          </a:prstGeom>
          <a:gradFill rotWithShape="1">
            <a:gsLst>
              <a:gs pos="0">
                <a:srgbClr val="D4A843">
                  <a:alpha val="12000"/>
                </a:srgbClr>
              </a:gs>
              <a:gs pos="100000">
                <a:srgbClr val="D4A843">
                  <a:alpha val="4000"/>
                </a:srgbClr>
              </a:gs>
            </a:gsLst>
            <a:lin ang="0" scaled="1"/>
          </a:gradFill>
          <a:ln/>
        </p:spPr>
        <p:txBody>
          <a:bodyPr wrap="square" lIns="143510" tIns="86360" rIns="143510" bIns="8636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</a:t>
            </a:r>
            <a:r>
              <a:rPr lang="en-US" sz="1000" b="1" dirty="0">
                <a:solidFill>
                  <a:srgbClr val="8D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Customers with </a:t>
            </a: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parcels</a:t>
            </a:r>
            <a:r>
              <a:rPr lang="en-US" sz="1000" b="1" dirty="0">
                <a:solidFill>
                  <a:srgbClr val="8D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shipped in 2019 or early 2020, who shipped </a:t>
            </a: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1+ parcels</a:t>
            </a:r>
            <a:r>
              <a:rPr lang="en-US" sz="1000" b="1" dirty="0">
                <a:solidFill>
                  <a:srgbClr val="8D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during the COVID observation period </a:t>
            </a: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(Week 11–53, 2020)</a:t>
            </a:r>
            <a:r>
              <a:rPr lang="en-US" sz="1000" b="1" dirty="0">
                <a:solidFill>
                  <a:srgbClr val="8D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Having no 2019 shipping history, they cannot be classified into existing volume tiers — they form their own distinct segment.</a:t>
            </a:r>
            <a:endParaRPr lang="en-US" sz="1000" b="1" dirty="0"/>
          </a:p>
        </p:txBody>
      </p:sp>
      <p:sp>
        <p:nvSpPr>
          <p:cNvPr id="6" name="Text 4"/>
          <p:cNvSpPr/>
          <p:nvPr/>
        </p:nvSpPr>
        <p:spPr>
          <a:xfrm>
            <a:off x="400050" y="934492"/>
            <a:ext cx="19050" cy="503337"/>
          </a:xfrm>
          <a:prstGeom prst="rect">
            <a:avLst/>
          </a:prstGeom>
          <a:solidFill>
            <a:srgbClr val="D4A84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650154"/>
            <a:ext cx="4114800" cy="807541"/>
          </a:xfrm>
          <a:prstGeom prst="roundRect">
            <a:avLst>
              <a:gd name="adj" fmla="val 10694"/>
            </a:avLst>
          </a:prstGeom>
          <a:solidFill>
            <a:srgbClr val="162A4A"/>
          </a:solidFill>
          <a:ln w="9525">
            <a:solidFill>
              <a:srgbClr val="8DA4BF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01463" y="1803149"/>
            <a:ext cx="314920" cy="314920"/>
          </a:xfrm>
          <a:prstGeom prst="ellipse">
            <a:avLst/>
          </a:prstGeom>
          <a:solidFill>
            <a:srgbClr val="D4A843">
              <a:alpha val="13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2555" y="1894241"/>
            <a:ext cx="132588" cy="1325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30683" y="1803149"/>
            <a:ext cx="368677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230"/>
              </a:spcAft>
              <a:buNone/>
            </a:pPr>
            <a:r>
              <a:rPr lang="en-US" sz="1400" b="1">
                <a:solidFill>
                  <a:srgbClr val="F0F4F8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Net Business Acquisition</a:t>
            </a:r>
            <a:endParaRPr lang="en-US" sz="1400"/>
          </a:p>
        </p:txBody>
      </p:sp>
      <p:sp>
        <p:nvSpPr>
          <p:cNvPr id="11" name="Text 8"/>
          <p:cNvSpPr/>
          <p:nvPr/>
        </p:nvSpPr>
        <p:spPr>
          <a:xfrm>
            <a:off x="1030683" y="2003769"/>
            <a:ext cx="3418642" cy="315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85"/>
              </a:lnSpc>
            </a:pPr>
            <a:r>
              <a:rPr lang="en-US" sz="1050"/>
              <a:t>New customers are new business with no prior shipping history.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5A7086D-8992-3E48-48EC-CC09EB8D4801}"/>
              </a:ext>
            </a:extLst>
          </p:cNvPr>
          <p:cNvGrpSpPr/>
          <p:nvPr/>
        </p:nvGrpSpPr>
        <p:grpSpPr>
          <a:xfrm>
            <a:off x="400051" y="3233008"/>
            <a:ext cx="4282975" cy="807541"/>
            <a:chOff x="400050" y="2503140"/>
            <a:chExt cx="4282975" cy="807541"/>
          </a:xfrm>
        </p:grpSpPr>
        <p:sp>
          <p:nvSpPr>
            <p:cNvPr id="17" name="Text 13"/>
            <p:cNvSpPr/>
            <p:nvPr/>
          </p:nvSpPr>
          <p:spPr>
            <a:xfrm>
              <a:off x="400050" y="2503140"/>
              <a:ext cx="4114800" cy="807541"/>
            </a:xfrm>
            <a:prstGeom prst="roundRect">
              <a:avLst>
                <a:gd name="adj" fmla="val 10694"/>
              </a:avLst>
            </a:prstGeom>
            <a:solidFill>
              <a:srgbClr val="162A4A"/>
            </a:solidFill>
            <a:ln w="9525">
              <a:solidFill>
                <a:srgbClr val="8DA4BF">
                  <a:alpha val="12000"/>
                </a:srgbClr>
              </a:solidFill>
            </a:ln>
          </p:spPr>
          <p:txBody>
            <a:bodyPr wrap="square" rtlCol="0" anchor="t"/>
            <a:lstStyle/>
            <a:p>
              <a:pPr marL="0" indent="0">
                <a:buNone/>
              </a:pPr>
              <a:endParaRPr lang="en-US"/>
            </a:p>
          </p:txBody>
        </p:sp>
        <p:sp>
          <p:nvSpPr>
            <p:cNvPr id="18" name="Text 14"/>
            <p:cNvSpPr/>
            <p:nvPr/>
          </p:nvSpPr>
          <p:spPr>
            <a:xfrm>
              <a:off x="567035" y="2656136"/>
              <a:ext cx="314920" cy="314920"/>
            </a:xfrm>
            <a:prstGeom prst="ellipse">
              <a:avLst/>
            </a:prstGeom>
            <a:solidFill>
              <a:srgbClr val="D4A843">
                <a:alpha val="13000"/>
              </a:srgbClr>
            </a:solidFill>
            <a:ln/>
          </p:spPr>
          <p:txBody>
            <a:bodyPr wrap="square" rtlCol="0" anchor="t"/>
            <a:lstStyle/>
            <a:p>
              <a:pPr marL="0" indent="0">
                <a:buNone/>
              </a:pPr>
              <a:endParaRPr lang="en-US"/>
            </a:p>
          </p:txBody>
        </p:sp>
        <p:pic>
          <p:nvPicPr>
            <p:cNvPr id="19" name="Image 2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8127" y="2747227"/>
              <a:ext cx="132588" cy="132588"/>
            </a:xfrm>
            <a:prstGeom prst="rect">
              <a:avLst/>
            </a:prstGeom>
          </p:spPr>
        </p:pic>
        <p:sp>
          <p:nvSpPr>
            <p:cNvPr id="20" name="Text 15"/>
            <p:cNvSpPr/>
            <p:nvPr/>
          </p:nvSpPr>
          <p:spPr>
            <a:xfrm>
              <a:off x="996255" y="2656136"/>
              <a:ext cx="368677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350"/>
                </a:lnSpc>
                <a:spcAft>
                  <a:spcPts val="230"/>
                </a:spcAft>
                <a:buNone/>
              </a:pPr>
              <a:r>
                <a:rPr lang="en-US" sz="1400" b="1">
                  <a:solidFill>
                    <a:srgbClr val="F0F4F8"/>
                  </a:solidFill>
                  <a:latin typeface="Constantia" pitchFamily="34" charset="0"/>
                  <a:ea typeface="Constantia" pitchFamily="34" charset="-122"/>
                  <a:cs typeface="Constantia" pitchFamily="34" charset="-120"/>
                </a:rPr>
                <a:t>Full Base Rate — $22.00/Parcel</a:t>
              </a:r>
              <a:endParaRPr lang="en-US" sz="1400"/>
            </a:p>
          </p:txBody>
        </p:sp>
        <p:sp>
          <p:nvSpPr>
            <p:cNvPr id="21" name="Text 16"/>
            <p:cNvSpPr/>
            <p:nvPr/>
          </p:nvSpPr>
          <p:spPr>
            <a:xfrm>
              <a:off x="996255" y="2856756"/>
              <a:ext cx="3418642" cy="31597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185"/>
                </a:lnSpc>
              </a:pPr>
              <a:r>
                <a:rPr lang="en-US" sz="1050"/>
                <a:t>New customers pay full price with no discount or contract.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AFF58382-D618-A7DC-E748-BE5BC79297C0}"/>
              </a:ext>
            </a:extLst>
          </p:cNvPr>
          <p:cNvGrpSpPr/>
          <p:nvPr/>
        </p:nvGrpSpPr>
        <p:grpSpPr>
          <a:xfrm>
            <a:off x="4672632" y="2428220"/>
            <a:ext cx="4184409" cy="807541"/>
            <a:chOff x="4574066" y="1581299"/>
            <a:chExt cx="4282975" cy="807541"/>
          </a:xfrm>
          <a:solidFill>
            <a:srgbClr val="1E5155"/>
          </a:solidFill>
        </p:grpSpPr>
        <p:sp>
          <p:nvSpPr>
            <p:cNvPr id="12" name="Text 9"/>
            <p:cNvSpPr/>
            <p:nvPr/>
          </p:nvSpPr>
          <p:spPr>
            <a:xfrm>
              <a:off x="4574066" y="1581299"/>
              <a:ext cx="4114800" cy="807541"/>
            </a:xfrm>
            <a:prstGeom prst="roundRect">
              <a:avLst>
                <a:gd name="adj" fmla="val 10694"/>
              </a:avLst>
            </a:prstGeom>
            <a:grpFill/>
            <a:ln w="9525">
              <a:solidFill>
                <a:srgbClr val="8DA4BF">
                  <a:alpha val="12000"/>
                </a:srgbClr>
              </a:solidFill>
            </a:ln>
          </p:spPr>
          <p:txBody>
            <a:bodyPr wrap="square" rtlCol="0" anchor="t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5" name="Text 11"/>
            <p:cNvSpPr/>
            <p:nvPr/>
          </p:nvSpPr>
          <p:spPr>
            <a:xfrm>
              <a:off x="5170271" y="1734294"/>
              <a:ext cx="3686770" cy="171450"/>
            </a:xfrm>
            <a:prstGeom prst="rect">
              <a:avLst/>
            </a:prstGeom>
            <a:grp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350"/>
                </a:lnSpc>
                <a:spcAft>
                  <a:spcPts val="230"/>
                </a:spcAft>
                <a:buNone/>
              </a:pPr>
              <a:r>
                <a:rPr lang="en-US" sz="1400" b="1">
                  <a:solidFill>
                    <a:srgbClr val="F0F4F8"/>
                  </a:solidFill>
                  <a:latin typeface="Constantia" pitchFamily="34" charset="0"/>
                  <a:ea typeface="Constantia" pitchFamily="34" charset="-122"/>
                  <a:cs typeface="Constantia" pitchFamily="34" charset="-120"/>
                </a:rPr>
                <a:t>E-Commerce Surge Effect</a:t>
              </a:r>
              <a:endParaRPr lang="en-US" sz="1400"/>
            </a:p>
          </p:txBody>
        </p:sp>
        <p:sp>
          <p:nvSpPr>
            <p:cNvPr id="16" name="Text 12"/>
            <p:cNvSpPr/>
            <p:nvPr/>
          </p:nvSpPr>
          <p:spPr>
            <a:xfrm>
              <a:off x="5170271" y="1934914"/>
              <a:ext cx="3418642" cy="315977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185"/>
                </a:lnSpc>
              </a:pPr>
              <a:r>
                <a:rPr lang="en-US" sz="1050"/>
                <a:t>COVID-driven e-commerce growth brought many new customers.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1F3D4EC-D089-D50A-3B04-8D70B97D70E4}"/>
              </a:ext>
            </a:extLst>
          </p:cNvPr>
          <p:cNvGrpSpPr/>
          <p:nvPr/>
        </p:nvGrpSpPr>
        <p:grpSpPr>
          <a:xfrm>
            <a:off x="4688695" y="4011519"/>
            <a:ext cx="4282975" cy="807541"/>
            <a:chOff x="4574066" y="2503140"/>
            <a:chExt cx="4282975" cy="807541"/>
          </a:xfrm>
          <a:solidFill>
            <a:srgbClr val="1E5155"/>
          </a:solidFill>
        </p:grpSpPr>
        <p:sp>
          <p:nvSpPr>
            <p:cNvPr id="22" name="Text 17"/>
            <p:cNvSpPr/>
            <p:nvPr/>
          </p:nvSpPr>
          <p:spPr>
            <a:xfrm>
              <a:off x="4574066" y="2503140"/>
              <a:ext cx="4114800" cy="807541"/>
            </a:xfrm>
            <a:prstGeom prst="roundRect">
              <a:avLst>
                <a:gd name="adj" fmla="val 10694"/>
              </a:avLst>
            </a:prstGeom>
            <a:grpFill/>
            <a:ln w="9525">
              <a:solidFill>
                <a:srgbClr val="8DA4BF">
                  <a:alpha val="12000"/>
                </a:srgbClr>
              </a:solidFill>
            </a:ln>
          </p:spPr>
          <p:txBody>
            <a:bodyPr wrap="square" rtlCol="0" anchor="t"/>
            <a:lstStyle/>
            <a:p>
              <a:pPr marL="0" indent="0">
                <a:buNone/>
              </a:pPr>
              <a:endParaRPr lang="en-US"/>
            </a:p>
          </p:txBody>
        </p:sp>
        <p:sp>
          <p:nvSpPr>
            <p:cNvPr id="23" name="Text 18"/>
            <p:cNvSpPr/>
            <p:nvPr/>
          </p:nvSpPr>
          <p:spPr>
            <a:xfrm>
              <a:off x="4741051" y="2656136"/>
              <a:ext cx="314920" cy="314920"/>
            </a:xfrm>
            <a:prstGeom prst="ellipse">
              <a:avLst/>
            </a:prstGeom>
            <a:grp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endParaRPr lang="en-US"/>
            </a:p>
          </p:txBody>
        </p:sp>
        <p:pic>
          <p:nvPicPr>
            <p:cNvPr id="24" name="Image 3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832143" y="2747227"/>
              <a:ext cx="132588" cy="132588"/>
            </a:xfrm>
            <a:prstGeom prst="rect">
              <a:avLst/>
            </a:prstGeom>
          </p:spPr>
        </p:pic>
        <p:sp>
          <p:nvSpPr>
            <p:cNvPr id="25" name="Text 19"/>
            <p:cNvSpPr/>
            <p:nvPr/>
          </p:nvSpPr>
          <p:spPr>
            <a:xfrm>
              <a:off x="5170271" y="2656136"/>
              <a:ext cx="3686770" cy="171450"/>
            </a:xfrm>
            <a:prstGeom prst="rect">
              <a:avLst/>
            </a:prstGeom>
            <a:grp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350"/>
                </a:lnSpc>
                <a:spcAft>
                  <a:spcPts val="230"/>
                </a:spcAft>
                <a:buNone/>
              </a:pPr>
              <a:r>
                <a:rPr lang="en-US" sz="1400" b="1">
                  <a:solidFill>
                    <a:srgbClr val="F0F4F8"/>
                  </a:solidFill>
                  <a:latin typeface="Constantia" pitchFamily="34" charset="0"/>
                  <a:ea typeface="Constantia" pitchFamily="34" charset="-122"/>
                  <a:cs typeface="Constantia" pitchFamily="34" charset="-120"/>
                </a:rPr>
                <a:t>High-Margin Acquisition Group</a:t>
              </a:r>
              <a:endParaRPr lang="en-US" sz="1400"/>
            </a:p>
          </p:txBody>
        </p:sp>
        <p:sp>
          <p:nvSpPr>
            <p:cNvPr id="26" name="Text 20"/>
            <p:cNvSpPr/>
            <p:nvPr/>
          </p:nvSpPr>
          <p:spPr>
            <a:xfrm>
              <a:off x="5170271" y="2856756"/>
              <a:ext cx="3418642" cy="315977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185"/>
                </a:lnSpc>
              </a:pPr>
              <a:r>
                <a:rPr lang="en-US" sz="1050" b="1"/>
                <a:t>Full pricing makes new customers high-margin despite lower volume.</a:t>
              </a:r>
            </a:p>
          </p:txBody>
        </p:sp>
      </p:grpSp>
      <p:pic>
        <p:nvPicPr>
          <p:cNvPr id="44" name="Image 1">
            <a:extLst>
              <a:ext uri="{FF2B5EF4-FFF2-40B4-BE49-F238E27FC236}">
                <a16:creationId xmlns:a16="http://schemas.microsoft.com/office/drawing/2014/main" id="{843B34B4-F802-E08C-1F91-03AD736811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91987" y="2645489"/>
            <a:ext cx="132588" cy="132588"/>
          </a:xfrm>
          <a:prstGeom prst="rect">
            <a:avLst/>
          </a:prstGeom>
        </p:spPr>
      </p:pic>
      <p:sp>
        <p:nvSpPr>
          <p:cNvPr id="45" name="Text 10">
            <a:extLst>
              <a:ext uri="{FF2B5EF4-FFF2-40B4-BE49-F238E27FC236}">
                <a16:creationId xmlns:a16="http://schemas.microsoft.com/office/drawing/2014/main" id="{FE2CD83D-78EB-46BE-C7CE-0D86EFEDA4CA}"/>
              </a:ext>
            </a:extLst>
          </p:cNvPr>
          <p:cNvSpPr/>
          <p:nvPr/>
        </p:nvSpPr>
        <p:spPr>
          <a:xfrm>
            <a:off x="4806414" y="2542397"/>
            <a:ext cx="303734" cy="314920"/>
          </a:xfrm>
          <a:prstGeom prst="ellipse">
            <a:avLst/>
          </a:prstGeom>
          <a:solidFill>
            <a:srgbClr val="D4A843">
              <a:alpha val="13000"/>
            </a:srgbClr>
          </a:solidFill>
          <a:ln/>
        </p:spPr>
        <p:txBody>
          <a:bodyPr wrap="square" rtlCol="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391120"/>
            <a:ext cx="34290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D4A843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29270" y="342900"/>
            <a:ext cx="107574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dirty="0">
                <a:solidFill>
                  <a:srgbClr val="8D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ANALYSIS</a:t>
            </a:r>
            <a:endParaRPr lang="en-US" sz="620" dirty="0"/>
          </a:p>
        </p:txBody>
      </p:sp>
      <p:sp>
        <p:nvSpPr>
          <p:cNvPr id="4" name="Text 2"/>
          <p:cNvSpPr/>
          <p:nvPr/>
        </p:nvSpPr>
        <p:spPr>
          <a:xfrm>
            <a:off x="400050" y="518071"/>
            <a:ext cx="5248274" cy="278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97"/>
              </a:lnSpc>
              <a:buNone/>
            </a:pPr>
            <a:r>
              <a:rPr lang="en-US" sz="1910" dirty="0">
                <a:solidFill>
                  <a:srgbClr val="F0F4F8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Revenue by Customer Segment </a:t>
            </a:r>
            <a:r>
              <a:rPr lang="en-US" sz="1910" b="1" dirty="0">
                <a:solidFill>
                  <a:srgbClr val="D4A843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During COVID</a:t>
            </a:r>
            <a:endParaRPr lang="en-US" sz="1910" dirty="0"/>
          </a:p>
        </p:txBody>
      </p:sp>
      <p:sp>
        <p:nvSpPr>
          <p:cNvPr id="5" name="Text 3"/>
          <p:cNvSpPr/>
          <p:nvPr/>
        </p:nvSpPr>
        <p:spPr>
          <a:xfrm>
            <a:off x="400050" y="840135"/>
            <a:ext cx="5395421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spcBef>
                <a:spcPts val="340"/>
              </a:spcBef>
              <a:buNone/>
            </a:pPr>
            <a:r>
              <a:rPr lang="en-US" sz="1000" dirty="0">
                <a:solidFill>
                  <a:srgbClr val="8D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11–53, 2020 — Observation Period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78993" y="665285"/>
            <a:ext cx="980051" cy="206871"/>
          </a:xfrm>
          <a:prstGeom prst="roundRect">
            <a:avLst>
              <a:gd name="adj" fmla="val 69372"/>
            </a:avLst>
          </a:prstGeom>
          <a:solidFill>
            <a:srgbClr val="D4A843">
              <a:alpha val="12000"/>
            </a:srgbClr>
          </a:solidFill>
          <a:ln w="9525">
            <a:solidFill>
              <a:srgbClr val="D4A843">
                <a:alpha val="20000"/>
              </a:srgbClr>
            </a:solidFill>
          </a:ln>
        </p:spPr>
        <p:txBody>
          <a:bodyPr wrap="none" lIns="218668" tIns="29210" rIns="100330" bIns="29210" rtlCol="0" anchor="ctr"/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– Dec 2020</a:t>
            </a:r>
            <a:endParaRPr lang="en-US" sz="68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68061" y="701849"/>
            <a:ext cx="132588" cy="1325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900958" y="1268993"/>
            <a:ext cx="6028730" cy="1857218"/>
          </a:xfrm>
          <a:prstGeom prst="roundRect">
            <a:avLst>
              <a:gd name="adj" fmla="val 4516"/>
            </a:avLst>
          </a:prstGeom>
          <a:solidFill>
            <a:srgbClr val="162A4A"/>
          </a:solidFill>
          <a:ln w="9525">
            <a:solidFill>
              <a:srgbClr val="8DA4BF">
                <a:alpha val="1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39285" y="1413142"/>
            <a:ext cx="132588" cy="1325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264281" y="1439783"/>
            <a:ext cx="1293808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1200" b="1" dirty="0">
                <a:solidFill>
                  <a:srgbClr val="8D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BREAKDOWN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3062716" y="1973992"/>
            <a:ext cx="5666780" cy="9525"/>
          </a:xfrm>
          <a:prstGeom prst="rect">
            <a:avLst/>
          </a:prstGeom>
          <a:solidFill>
            <a:srgbClr val="8DA4BF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3062716" y="1766079"/>
            <a:ext cx="86320" cy="86320"/>
          </a:xfrm>
          <a:prstGeom prst="roundRect">
            <a:avLst>
              <a:gd name="adj" fmla="val 25012"/>
            </a:avLst>
          </a:prstGeom>
          <a:solidFill>
            <a:srgbClr val="65C2A5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3220028" y="1729169"/>
            <a:ext cx="706740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3897836" y="1701636"/>
            <a:ext cx="392415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1695"/>
              </a:lnSpc>
              <a:buNone/>
            </a:pPr>
            <a:r>
              <a:rPr lang="en-US" sz="1100" b="1">
                <a:solidFill>
                  <a:srgbClr val="65C2A5"/>
                </a:solidFill>
                <a:latin typeface="Constantia"/>
                <a:ea typeface="Constantia" pitchFamily="34" charset="-122"/>
                <a:cs typeface="Constantia" pitchFamily="34" charset="-120"/>
              </a:rPr>
              <a:t>38%</a:t>
            </a:r>
            <a:endParaRPr lang="en-US" sz="1100">
              <a:solidFill>
                <a:srgbClr val="65C2A5"/>
              </a:solidFill>
              <a:latin typeface="Constantia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4390412" y="1744499"/>
            <a:ext cx="1291024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1000" dirty="0">
                <a:solidFill>
                  <a:srgbClr val="8D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discount · highest volume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3062716" y="2313022"/>
            <a:ext cx="5666780" cy="9525"/>
          </a:xfrm>
          <a:prstGeom prst="rect">
            <a:avLst/>
          </a:prstGeom>
          <a:solidFill>
            <a:srgbClr val="8DA4BF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3062716" y="2105109"/>
            <a:ext cx="86320" cy="86320"/>
          </a:xfrm>
          <a:prstGeom prst="roundRect">
            <a:avLst>
              <a:gd name="adj" fmla="val 25012"/>
            </a:avLst>
          </a:prstGeom>
          <a:solidFill>
            <a:srgbClr val="8DA0CB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3220028" y="2068200"/>
            <a:ext cx="706740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3897836" y="2040667"/>
            <a:ext cx="392415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1695"/>
              </a:lnSpc>
              <a:buNone/>
            </a:pPr>
            <a:r>
              <a:rPr lang="en-US" sz="1100" b="1">
                <a:solidFill>
                  <a:srgbClr val="8DA0CB"/>
                </a:solidFill>
                <a:latin typeface="Constantia"/>
                <a:ea typeface="Constantia" pitchFamily="34" charset="-122"/>
                <a:cs typeface="Constantia" pitchFamily="34" charset="-120"/>
              </a:rPr>
              <a:t>27%</a:t>
            </a:r>
            <a:endParaRPr lang="en-US" sz="1100">
              <a:solidFill>
                <a:srgbClr val="8DA0CB"/>
              </a:solidFill>
              <a:latin typeface="Constantia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4390412" y="2083529"/>
            <a:ext cx="569223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1000" dirty="0">
                <a:solidFill>
                  <a:srgbClr val="8D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 discount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3062716" y="2652053"/>
            <a:ext cx="5666780" cy="9525"/>
          </a:xfrm>
          <a:prstGeom prst="rect">
            <a:avLst/>
          </a:prstGeom>
          <a:solidFill>
            <a:srgbClr val="8DA4BF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3062716" y="2444140"/>
            <a:ext cx="86320" cy="86320"/>
          </a:xfrm>
          <a:prstGeom prst="roundRect">
            <a:avLst>
              <a:gd name="adj" fmla="val 25012"/>
            </a:avLst>
          </a:prstGeom>
          <a:solidFill>
            <a:srgbClr val="FFD93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3220028" y="2407230"/>
            <a:ext cx="706740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3897836" y="2379697"/>
            <a:ext cx="392415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1695"/>
              </a:lnSpc>
              <a:buNone/>
            </a:pPr>
            <a:r>
              <a:rPr lang="en-US" sz="1100" b="1">
                <a:solidFill>
                  <a:srgbClr val="FFD930"/>
                </a:solidFill>
                <a:latin typeface="Constantia"/>
                <a:ea typeface="Constantia" pitchFamily="34" charset="-122"/>
                <a:cs typeface="Constantia" pitchFamily="34" charset="-120"/>
              </a:rPr>
              <a:t>20%</a:t>
            </a:r>
            <a:endParaRPr lang="en-US" sz="1100">
              <a:solidFill>
                <a:srgbClr val="FFD930"/>
              </a:solidFill>
              <a:latin typeface="Constantia"/>
            </a:endParaRPr>
          </a:p>
        </p:txBody>
      </p:sp>
      <p:sp>
        <p:nvSpPr>
          <p:cNvPr id="27" name="Text 22"/>
          <p:cNvSpPr/>
          <p:nvPr/>
        </p:nvSpPr>
        <p:spPr>
          <a:xfrm>
            <a:off x="4390412" y="2422560"/>
            <a:ext cx="569223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1000" dirty="0">
                <a:solidFill>
                  <a:srgbClr val="8D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discount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3062716" y="2991083"/>
            <a:ext cx="5666780" cy="9525"/>
          </a:xfrm>
          <a:prstGeom prst="rect">
            <a:avLst/>
          </a:prstGeom>
          <a:solidFill>
            <a:srgbClr val="8DA4BF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4"/>
          <p:cNvSpPr/>
          <p:nvPr/>
        </p:nvSpPr>
        <p:spPr>
          <a:xfrm>
            <a:off x="3062716" y="2783170"/>
            <a:ext cx="86320" cy="86320"/>
          </a:xfrm>
          <a:prstGeom prst="roundRect">
            <a:avLst>
              <a:gd name="adj" fmla="val 25012"/>
            </a:avLst>
          </a:prstGeom>
          <a:solidFill>
            <a:srgbClr val="B3B3B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5"/>
          <p:cNvSpPr/>
          <p:nvPr/>
        </p:nvSpPr>
        <p:spPr>
          <a:xfrm>
            <a:off x="3220028" y="2746261"/>
            <a:ext cx="706740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3897836" y="2718728"/>
            <a:ext cx="392415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1695"/>
              </a:lnSpc>
              <a:buNone/>
            </a:pPr>
            <a:r>
              <a:rPr lang="en-US" sz="1100" b="1">
                <a:solidFill>
                  <a:srgbClr val="B3B3B3"/>
                </a:solidFill>
                <a:latin typeface="Constantia"/>
                <a:ea typeface="Constantia" pitchFamily="34" charset="-122"/>
                <a:cs typeface="Constantia" pitchFamily="34" charset="-120"/>
              </a:rPr>
              <a:t>11%</a:t>
            </a:r>
            <a:endParaRPr lang="en-US" sz="1100">
              <a:solidFill>
                <a:srgbClr val="B3B3B3"/>
              </a:solidFill>
              <a:latin typeface="Constantia"/>
            </a:endParaRPr>
          </a:p>
        </p:txBody>
      </p:sp>
      <p:sp>
        <p:nvSpPr>
          <p:cNvPr id="32" name="Text 27"/>
          <p:cNvSpPr/>
          <p:nvPr/>
        </p:nvSpPr>
        <p:spPr>
          <a:xfrm>
            <a:off x="4390412" y="2761590"/>
            <a:ext cx="516508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1000" dirty="0">
                <a:solidFill>
                  <a:srgbClr val="8D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 discount</a:t>
            </a:r>
            <a:endParaRPr lang="en-US" sz="1000" dirty="0"/>
          </a:p>
        </p:txBody>
      </p:sp>
      <p:sp>
        <p:nvSpPr>
          <p:cNvPr id="37" name="Text 32"/>
          <p:cNvSpPr/>
          <p:nvPr/>
        </p:nvSpPr>
        <p:spPr>
          <a:xfrm>
            <a:off x="2900958" y="3455716"/>
            <a:ext cx="6028730" cy="881955"/>
          </a:xfrm>
          <a:prstGeom prst="roundRect">
            <a:avLst>
              <a:gd name="adj" fmla="val 9792"/>
            </a:avLst>
          </a:prstGeom>
          <a:gradFill rotWithShape="1">
            <a:gsLst>
              <a:gs pos="0">
                <a:srgbClr val="D4A843">
                  <a:alpha val="8000"/>
                </a:srgbClr>
              </a:gs>
              <a:gs pos="100000">
                <a:srgbClr val="162A4A">
                  <a:alpha val="60000"/>
                </a:srgbClr>
              </a:gs>
            </a:gsLst>
            <a:lin ang="2700000" scaled="1"/>
          </a:gradFill>
          <a:ln w="9525">
            <a:solidFill>
              <a:srgbClr val="D4A843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05881" y="3575382"/>
            <a:ext cx="132588" cy="132588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3226287" y="3574034"/>
            <a:ext cx="6066309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spcAft>
                <a:spcPts val="230"/>
              </a:spcAft>
              <a:buNone/>
            </a:pPr>
            <a:r>
              <a:rPr lang="en-US" sz="1200" b="1" kern="0" spc="37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40" name="Text 34"/>
          <p:cNvSpPr/>
          <p:nvPr/>
        </p:nvSpPr>
        <p:spPr>
          <a:xfrm>
            <a:off x="3226287" y="3742210"/>
            <a:ext cx="5625123" cy="489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5"/>
              </a:lnSpc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&amp; Large segments drive 65% of revenue</a:t>
            </a: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despite receiving the steepest discounts (22% and 17%). This concentration creates both </a:t>
            </a:r>
            <a:r>
              <a:rPr lang="en-US" sz="9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through volume-driven growth — and </a:t>
            </a:r>
            <a:r>
              <a:rPr lang="en-US" sz="9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through dependency on a few large accounts.</a:t>
            </a:r>
            <a:endParaRPr lang="en-US" sz="900" dirty="0"/>
          </a:p>
        </p:txBody>
      </p:sp>
      <p:sp>
        <p:nvSpPr>
          <p:cNvPr id="41" name="Text 35"/>
          <p:cNvSpPr/>
          <p:nvPr/>
        </p:nvSpPr>
        <p:spPr>
          <a:xfrm>
            <a:off x="530820" y="4472235"/>
            <a:ext cx="1933277" cy="513606"/>
          </a:xfrm>
          <a:prstGeom prst="roundRect">
            <a:avLst>
              <a:gd name="adj" fmla="val 13847"/>
            </a:avLst>
          </a:prstGeom>
          <a:solidFill>
            <a:srgbClr val="162A4A"/>
          </a:solidFill>
          <a:ln w="9525">
            <a:solidFill>
              <a:srgbClr val="8DA4BF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0264" y="4662669"/>
            <a:ext cx="132588" cy="132588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850950" y="4568080"/>
            <a:ext cx="720001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1200" dirty="0">
                <a:solidFill>
                  <a:srgbClr val="8D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 Tiers</a:t>
            </a:r>
            <a:endParaRPr lang="en-US" sz="1200" dirty="0"/>
          </a:p>
        </p:txBody>
      </p:sp>
      <p:sp>
        <p:nvSpPr>
          <p:cNvPr id="44" name="Text 37"/>
          <p:cNvSpPr/>
          <p:nvPr/>
        </p:nvSpPr>
        <p:spPr>
          <a:xfrm>
            <a:off x="850950" y="4697561"/>
            <a:ext cx="720001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15"/>
              </a:lnSpc>
              <a:buNone/>
            </a:pPr>
            <a:r>
              <a:rPr lang="en-US" sz="1200" dirty="0">
                <a:solidFill>
                  <a:srgbClr val="F0F4F8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65% </a:t>
            </a:r>
            <a:r>
              <a:rPr lang="en-US" sz="1200" dirty="0">
                <a:solidFill>
                  <a:srgbClr val="8DA4BF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of revenue</a:t>
            </a:r>
            <a:endParaRPr lang="en-US" sz="1200" dirty="0"/>
          </a:p>
        </p:txBody>
      </p:sp>
      <p:sp>
        <p:nvSpPr>
          <p:cNvPr id="45" name="Text 38"/>
          <p:cNvSpPr/>
          <p:nvPr/>
        </p:nvSpPr>
        <p:spPr>
          <a:xfrm>
            <a:off x="3625362" y="4478171"/>
            <a:ext cx="1933426" cy="513606"/>
          </a:xfrm>
          <a:prstGeom prst="roundRect">
            <a:avLst>
              <a:gd name="adj" fmla="val 13847"/>
            </a:avLst>
          </a:prstGeom>
          <a:solidFill>
            <a:srgbClr val="162A4A"/>
          </a:solidFill>
          <a:ln w="9525">
            <a:solidFill>
              <a:srgbClr val="8DA4BF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44805" y="4668605"/>
            <a:ext cx="132588" cy="132588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3945491" y="4574016"/>
            <a:ext cx="767641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1200" dirty="0">
                <a:solidFill>
                  <a:srgbClr val="8D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Per-Parcel</a:t>
            </a:r>
            <a:endParaRPr lang="en-US" sz="1200" dirty="0"/>
          </a:p>
        </p:txBody>
      </p:sp>
      <p:sp>
        <p:nvSpPr>
          <p:cNvPr id="48" name="Text 40"/>
          <p:cNvSpPr/>
          <p:nvPr/>
        </p:nvSpPr>
        <p:spPr>
          <a:xfrm>
            <a:off x="3945491" y="4703497"/>
            <a:ext cx="767641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15"/>
              </a:lnSpc>
              <a:buNone/>
            </a:pPr>
            <a:r>
              <a:rPr lang="en-US" sz="1200" dirty="0">
                <a:solidFill>
                  <a:srgbClr val="F0F4F8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$22.00 </a:t>
            </a:r>
            <a:r>
              <a:rPr lang="en-US" sz="1200" dirty="0">
                <a:solidFill>
                  <a:srgbClr val="8DA4BF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full price</a:t>
            </a:r>
            <a:endParaRPr lang="en-US" sz="1200" dirty="0"/>
          </a:p>
        </p:txBody>
      </p:sp>
      <p:sp>
        <p:nvSpPr>
          <p:cNvPr id="49" name="Text 41"/>
          <p:cNvSpPr/>
          <p:nvPr/>
        </p:nvSpPr>
        <p:spPr>
          <a:xfrm>
            <a:off x="6559550" y="4499759"/>
            <a:ext cx="1933426" cy="513606"/>
          </a:xfrm>
          <a:prstGeom prst="roundRect">
            <a:avLst>
              <a:gd name="adj" fmla="val 13847"/>
            </a:avLst>
          </a:prstGeom>
          <a:solidFill>
            <a:srgbClr val="162A4A"/>
          </a:solidFill>
          <a:ln w="9525">
            <a:solidFill>
              <a:srgbClr val="8DA4BF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78993" y="4690193"/>
            <a:ext cx="132588" cy="132588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6879679" y="4595604"/>
            <a:ext cx="799237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1200" dirty="0">
                <a:solidFill>
                  <a:srgbClr val="8D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Net</a:t>
            </a:r>
            <a:endParaRPr lang="en-US" sz="1200" dirty="0"/>
          </a:p>
        </p:txBody>
      </p:sp>
      <p:sp>
        <p:nvSpPr>
          <p:cNvPr id="52" name="Text 43"/>
          <p:cNvSpPr/>
          <p:nvPr/>
        </p:nvSpPr>
        <p:spPr>
          <a:xfrm>
            <a:off x="6879679" y="4725085"/>
            <a:ext cx="799237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15"/>
              </a:lnSpc>
              <a:buNone/>
            </a:pPr>
            <a:r>
              <a:rPr lang="en-US" sz="1200" dirty="0">
                <a:solidFill>
                  <a:srgbClr val="F0F4F8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$17.16 </a:t>
            </a:r>
            <a:r>
              <a:rPr lang="en-US" sz="1200" dirty="0">
                <a:solidFill>
                  <a:srgbClr val="8DA4BF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per parcel</a:t>
            </a:r>
            <a:endParaRPr lang="en-US" sz="1200" dirty="0"/>
          </a:p>
        </p:txBody>
      </p:sp>
      <p:pic>
        <p:nvPicPr>
          <p:cNvPr id="57" name="Picture 56" descr="A pie chart with text&#10;&#10;AI-generated content may be incorrect.">
            <a:extLst>
              <a:ext uri="{FF2B5EF4-FFF2-40B4-BE49-F238E27FC236}">
                <a16:creationId xmlns:a16="http://schemas.microsoft.com/office/drawing/2014/main" id="{2A02CC3B-CFC6-AA2E-909E-382FA11DF68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3366" y="1161564"/>
            <a:ext cx="2578262" cy="2669412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141118CD-7487-CCE8-F14E-3AB987ADD8AC}"/>
              </a:ext>
            </a:extLst>
          </p:cNvPr>
          <p:cNvSpPr txBox="1"/>
          <p:nvPr/>
        </p:nvSpPr>
        <p:spPr>
          <a:xfrm>
            <a:off x="-1044891" y="4024273"/>
            <a:ext cx="4990382" cy="214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930"/>
              </a:lnSpc>
              <a:spcBef>
                <a:spcPts val="790"/>
              </a:spcBef>
              <a:buNone/>
            </a:pPr>
            <a:r>
              <a:rPr lang="en-US" sz="1100" b="1" dirty="0">
                <a:solidFill>
                  <a:srgbClr val="8D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= Volume × $22.00 × (1 − Discount)</a:t>
            </a:r>
            <a:endParaRPr lang="en-US" sz="1100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43750" y="0"/>
            <a:ext cx="2000250" cy="2000250"/>
          </a:xfrm>
          <a:prstGeom prst="rect">
            <a:avLst/>
          </a:prstGeom>
          <a:gradFill rotWithShape="1">
            <a:gsLst>
              <a:gs pos="0">
                <a:srgbClr val="D4A843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t="100000" r="10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00050" y="378768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D4A843">
              <a:alpha val="1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8007" y="466725"/>
            <a:ext cx="139005" cy="13900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9270" y="342900"/>
            <a:ext cx="3675718" cy="3866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045"/>
              </a:lnSpc>
              <a:buNone/>
            </a:pPr>
            <a:r>
              <a:rPr lang="en-US" sz="2030" b="1" kern="0" spc="-30">
                <a:solidFill>
                  <a:srgbClr val="F0F4F8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Recommendations &amp; Next Steps</a:t>
            </a:r>
            <a:endParaRPr lang="en-US" sz="2030"/>
          </a:p>
        </p:txBody>
      </p:sp>
      <p:sp>
        <p:nvSpPr>
          <p:cNvPr id="6" name="Text 3"/>
          <p:cNvSpPr/>
          <p:nvPr/>
        </p:nvSpPr>
        <p:spPr>
          <a:xfrm>
            <a:off x="829270" y="786705"/>
            <a:ext cx="429220" cy="21580"/>
          </a:xfrm>
          <a:prstGeom prst="roundRect">
            <a:avLst>
              <a:gd name="adj" fmla="val 64736"/>
            </a:avLst>
          </a:prstGeom>
          <a:solidFill>
            <a:srgbClr val="D4A84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04992" y="933707"/>
            <a:ext cx="3049036" cy="955102"/>
          </a:xfrm>
          <a:prstGeom prst="roundRect">
            <a:avLst>
              <a:gd name="adj" fmla="val 8365"/>
            </a:avLst>
          </a:prstGeom>
          <a:solidFill>
            <a:srgbClr val="1E5155"/>
          </a:solidFill>
          <a:ln>
            <a:solidFill>
              <a:srgbClr val="1E5155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20548" y="937791"/>
            <a:ext cx="45719" cy="951018"/>
          </a:xfrm>
          <a:custGeom>
            <a:avLst/>
            <a:gdLst/>
            <a:ahLst/>
            <a:cxnLst/>
            <a:rect l="l" t="t" r="r" b="b"/>
            <a:pathLst>
              <a:path w="28575" h="850255">
                <a:moveTo>
                  <a:pt x="0" y="71120"/>
                </a:moveTo>
                <a:lnTo>
                  <a:pt x="3572" y="48865"/>
                </a:lnTo>
                <a:lnTo>
                  <a:pt x="7144" y="40054"/>
                </a:lnTo>
                <a:lnTo>
                  <a:pt x="10716" y="33579"/>
                </a:lnTo>
                <a:lnTo>
                  <a:pt x="14288" y="28363"/>
                </a:lnTo>
                <a:lnTo>
                  <a:pt x="17859" y="23989"/>
                </a:lnTo>
                <a:lnTo>
                  <a:pt x="21431" y="20237"/>
                </a:lnTo>
                <a:lnTo>
                  <a:pt x="25003" y="16979"/>
                </a:lnTo>
                <a:lnTo>
                  <a:pt x="28575" y="14129"/>
                </a:lnTo>
                <a:lnTo>
                  <a:pt x="28575" y="836126"/>
                </a:lnTo>
                <a:lnTo>
                  <a:pt x="25003" y="833276"/>
                </a:lnTo>
                <a:lnTo>
                  <a:pt x="21431" y="830018"/>
                </a:lnTo>
                <a:lnTo>
                  <a:pt x="17859" y="826266"/>
                </a:lnTo>
                <a:lnTo>
                  <a:pt x="14288" y="821892"/>
                </a:lnTo>
                <a:lnTo>
                  <a:pt x="10716" y="816677"/>
                </a:lnTo>
                <a:lnTo>
                  <a:pt x="7144" y="810201"/>
                </a:lnTo>
                <a:lnTo>
                  <a:pt x="3572" y="801391"/>
                </a:lnTo>
                <a:lnTo>
                  <a:pt x="0" y="779135"/>
                </a:lnTo>
                <a:close/>
              </a:path>
            </a:pathLst>
          </a:custGeom>
          <a:solidFill>
            <a:srgbClr val="D4A84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99936" y="975801"/>
            <a:ext cx="214664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80"/>
              </a:lnSpc>
              <a:buNone/>
            </a:pPr>
            <a:r>
              <a:rPr lang="en-US" sz="2000" b="1" dirty="0">
                <a:solidFill>
                  <a:srgbClr val="D4A843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1</a:t>
            </a:r>
            <a:endParaRPr lang="en-US" sz="20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6095" y="1386814"/>
            <a:ext cx="132588" cy="1325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8000" y="1037260"/>
            <a:ext cx="2183249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300" b="1" dirty="0">
                <a:solidFill>
                  <a:srgbClr val="F0F4F8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Retain High-Growth Customers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043880" y="1328835"/>
            <a:ext cx="2024467" cy="441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02"/>
              </a:lnSpc>
            </a:pPr>
            <a:r>
              <a:rPr lang="en-US" sz="1050" dirty="0"/>
              <a:t>Use loyalty programs to sustain growth in Enterprise and Large segments.</a:t>
            </a:r>
          </a:p>
        </p:txBody>
      </p:sp>
      <p:sp>
        <p:nvSpPr>
          <p:cNvPr id="14" name="Text 10"/>
          <p:cNvSpPr/>
          <p:nvPr/>
        </p:nvSpPr>
        <p:spPr>
          <a:xfrm>
            <a:off x="5376614" y="937791"/>
            <a:ext cx="3083038" cy="951018"/>
          </a:xfrm>
          <a:prstGeom prst="roundRect">
            <a:avLst>
              <a:gd name="adj" fmla="val 8365"/>
            </a:avLst>
          </a:prstGeom>
          <a:solidFill>
            <a:srgbClr val="1E5155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5376614" y="937792"/>
            <a:ext cx="45719" cy="951018"/>
          </a:xfrm>
          <a:custGeom>
            <a:avLst/>
            <a:gdLst/>
            <a:ahLst/>
            <a:cxnLst/>
            <a:rect l="l" t="t" r="r" b="b"/>
            <a:pathLst>
              <a:path w="28575" h="850255">
                <a:moveTo>
                  <a:pt x="0" y="71120"/>
                </a:moveTo>
                <a:lnTo>
                  <a:pt x="3572" y="48865"/>
                </a:lnTo>
                <a:lnTo>
                  <a:pt x="7144" y="40054"/>
                </a:lnTo>
                <a:lnTo>
                  <a:pt x="10716" y="33579"/>
                </a:lnTo>
                <a:lnTo>
                  <a:pt x="14288" y="28363"/>
                </a:lnTo>
                <a:lnTo>
                  <a:pt x="17859" y="23989"/>
                </a:lnTo>
                <a:lnTo>
                  <a:pt x="21431" y="20237"/>
                </a:lnTo>
                <a:lnTo>
                  <a:pt x="25003" y="16979"/>
                </a:lnTo>
                <a:lnTo>
                  <a:pt x="28575" y="14129"/>
                </a:lnTo>
                <a:lnTo>
                  <a:pt x="28575" y="836126"/>
                </a:lnTo>
                <a:lnTo>
                  <a:pt x="25003" y="833276"/>
                </a:lnTo>
                <a:lnTo>
                  <a:pt x="21431" y="830018"/>
                </a:lnTo>
                <a:lnTo>
                  <a:pt x="17859" y="826266"/>
                </a:lnTo>
                <a:lnTo>
                  <a:pt x="14288" y="821892"/>
                </a:lnTo>
                <a:lnTo>
                  <a:pt x="10716" y="816677"/>
                </a:lnTo>
                <a:lnTo>
                  <a:pt x="7144" y="810201"/>
                </a:lnTo>
                <a:lnTo>
                  <a:pt x="3572" y="801391"/>
                </a:lnTo>
                <a:lnTo>
                  <a:pt x="0" y="779135"/>
                </a:lnTo>
                <a:close/>
              </a:path>
            </a:pathLst>
          </a:custGeom>
          <a:solidFill>
            <a:srgbClr val="D4A84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5481601" y="976421"/>
            <a:ext cx="214664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80"/>
              </a:lnSpc>
              <a:buNone/>
            </a:pPr>
            <a:r>
              <a:rPr lang="en-US" sz="1580" b="1">
                <a:solidFill>
                  <a:srgbClr val="D4A843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2</a:t>
            </a:r>
            <a:endParaRPr lang="en-US" sz="1580"/>
          </a:p>
        </p:txBody>
      </p:sp>
      <p:sp>
        <p:nvSpPr>
          <p:cNvPr id="17" name="Text 13"/>
          <p:cNvSpPr/>
          <p:nvPr/>
        </p:nvSpPr>
        <p:spPr>
          <a:xfrm>
            <a:off x="5562649" y="1317302"/>
            <a:ext cx="271760" cy="271760"/>
          </a:xfrm>
          <a:prstGeom prst="roundRect">
            <a:avLst>
              <a:gd name="adj" fmla="val 21030"/>
            </a:avLst>
          </a:prstGeom>
          <a:solidFill>
            <a:srgbClr val="D4A843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32160" y="1386814"/>
            <a:ext cx="132588" cy="1325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679179" y="1008295"/>
            <a:ext cx="2183413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300" b="1" dirty="0">
                <a:solidFill>
                  <a:srgbClr val="F0F4F8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Address Declining Customers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948709" y="1308615"/>
            <a:ext cx="2024619" cy="441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02"/>
              </a:lnSpc>
            </a:pPr>
            <a:r>
              <a:rPr lang="en-US" sz="1050" dirty="0"/>
              <a:t>Identify causes of declining customers and re-engage them.</a:t>
            </a:r>
          </a:p>
        </p:txBody>
      </p:sp>
      <p:sp>
        <p:nvSpPr>
          <p:cNvPr id="21" name="Text 16"/>
          <p:cNvSpPr/>
          <p:nvPr/>
        </p:nvSpPr>
        <p:spPr>
          <a:xfrm>
            <a:off x="3120082" y="2294875"/>
            <a:ext cx="2828627" cy="1029522"/>
          </a:xfrm>
          <a:prstGeom prst="roundRect">
            <a:avLst>
              <a:gd name="adj" fmla="val 8365"/>
            </a:avLst>
          </a:prstGeom>
          <a:solidFill>
            <a:srgbClr val="1A2F5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3120081" y="2294875"/>
            <a:ext cx="45719" cy="1029522"/>
          </a:xfrm>
          <a:custGeom>
            <a:avLst/>
            <a:gdLst/>
            <a:ahLst/>
            <a:cxnLst/>
            <a:rect l="l" t="t" r="r" b="b"/>
            <a:pathLst>
              <a:path w="28575" h="850255">
                <a:moveTo>
                  <a:pt x="0" y="71120"/>
                </a:moveTo>
                <a:lnTo>
                  <a:pt x="3572" y="48865"/>
                </a:lnTo>
                <a:lnTo>
                  <a:pt x="7144" y="40054"/>
                </a:lnTo>
                <a:lnTo>
                  <a:pt x="10716" y="33579"/>
                </a:lnTo>
                <a:lnTo>
                  <a:pt x="14288" y="28363"/>
                </a:lnTo>
                <a:lnTo>
                  <a:pt x="17859" y="23989"/>
                </a:lnTo>
                <a:lnTo>
                  <a:pt x="21431" y="20237"/>
                </a:lnTo>
                <a:lnTo>
                  <a:pt x="25003" y="16979"/>
                </a:lnTo>
                <a:lnTo>
                  <a:pt x="28575" y="14129"/>
                </a:lnTo>
                <a:lnTo>
                  <a:pt x="28575" y="836126"/>
                </a:lnTo>
                <a:lnTo>
                  <a:pt x="25003" y="833276"/>
                </a:lnTo>
                <a:lnTo>
                  <a:pt x="21431" y="830018"/>
                </a:lnTo>
                <a:lnTo>
                  <a:pt x="17859" y="826266"/>
                </a:lnTo>
                <a:lnTo>
                  <a:pt x="14288" y="821892"/>
                </a:lnTo>
                <a:lnTo>
                  <a:pt x="10716" y="816677"/>
                </a:lnTo>
                <a:lnTo>
                  <a:pt x="7144" y="810201"/>
                </a:lnTo>
                <a:lnTo>
                  <a:pt x="3572" y="801391"/>
                </a:lnTo>
                <a:lnTo>
                  <a:pt x="0" y="779135"/>
                </a:lnTo>
                <a:close/>
              </a:path>
            </a:pathLst>
          </a:custGeom>
          <a:solidFill>
            <a:srgbClr val="D4A84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3263804" y="2324994"/>
            <a:ext cx="223703" cy="217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80"/>
              </a:lnSpc>
              <a:buNone/>
            </a:pPr>
            <a:r>
              <a:rPr lang="en-US" sz="1580" b="1">
                <a:solidFill>
                  <a:srgbClr val="D4A843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3</a:t>
            </a:r>
            <a:endParaRPr lang="en-US" sz="1580"/>
          </a:p>
        </p:txBody>
      </p:sp>
      <p:sp>
        <p:nvSpPr>
          <p:cNvPr id="24" name="Text 19"/>
          <p:cNvSpPr/>
          <p:nvPr/>
        </p:nvSpPr>
        <p:spPr>
          <a:xfrm>
            <a:off x="3313951" y="2705582"/>
            <a:ext cx="283204" cy="294099"/>
          </a:xfrm>
          <a:prstGeom prst="roundRect">
            <a:avLst>
              <a:gd name="adj" fmla="val 21030"/>
            </a:avLst>
          </a:prstGeom>
          <a:solidFill>
            <a:srgbClr val="D4A843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86390" y="2780808"/>
            <a:ext cx="138171" cy="143487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3455475" y="2373950"/>
            <a:ext cx="2275185" cy="16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300" b="1" dirty="0">
                <a:solidFill>
                  <a:srgbClr val="F0F4F8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Reduce Customer Churn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3724692" y="2719989"/>
            <a:ext cx="2109717" cy="477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02"/>
              </a:lnSpc>
            </a:pPr>
            <a:r>
              <a:rPr lang="en-US" sz="1050" dirty="0"/>
              <a:t>Focus on Small and Medium segments with highest customer loss.</a:t>
            </a:r>
          </a:p>
        </p:txBody>
      </p:sp>
      <p:sp>
        <p:nvSpPr>
          <p:cNvPr id="28" name="Text 22"/>
          <p:cNvSpPr/>
          <p:nvPr/>
        </p:nvSpPr>
        <p:spPr>
          <a:xfrm>
            <a:off x="413821" y="3624144"/>
            <a:ext cx="3550295" cy="907309"/>
          </a:xfrm>
          <a:prstGeom prst="roundRect">
            <a:avLst>
              <a:gd name="adj" fmla="val 9125"/>
            </a:avLst>
          </a:prstGeom>
          <a:solidFill>
            <a:srgbClr val="1E5155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29" name="Text 23"/>
          <p:cNvSpPr/>
          <p:nvPr/>
        </p:nvSpPr>
        <p:spPr>
          <a:xfrm>
            <a:off x="413821" y="3624144"/>
            <a:ext cx="45719" cy="907309"/>
          </a:xfrm>
          <a:custGeom>
            <a:avLst/>
            <a:gdLst/>
            <a:ahLst/>
            <a:cxnLst/>
            <a:rect l="l" t="t" r="r" b="b"/>
            <a:pathLst>
              <a:path w="28575" h="779413">
                <a:moveTo>
                  <a:pt x="0" y="71120"/>
                </a:moveTo>
                <a:lnTo>
                  <a:pt x="3572" y="48865"/>
                </a:lnTo>
                <a:lnTo>
                  <a:pt x="7144" y="40054"/>
                </a:lnTo>
                <a:lnTo>
                  <a:pt x="10716" y="33579"/>
                </a:lnTo>
                <a:lnTo>
                  <a:pt x="14288" y="28363"/>
                </a:lnTo>
                <a:lnTo>
                  <a:pt x="17859" y="23989"/>
                </a:lnTo>
                <a:lnTo>
                  <a:pt x="21431" y="20237"/>
                </a:lnTo>
                <a:lnTo>
                  <a:pt x="25003" y="16979"/>
                </a:lnTo>
                <a:lnTo>
                  <a:pt x="28575" y="14129"/>
                </a:lnTo>
                <a:lnTo>
                  <a:pt x="28575" y="765284"/>
                </a:lnTo>
                <a:lnTo>
                  <a:pt x="25003" y="762434"/>
                </a:lnTo>
                <a:lnTo>
                  <a:pt x="21431" y="759176"/>
                </a:lnTo>
                <a:lnTo>
                  <a:pt x="17859" y="755424"/>
                </a:lnTo>
                <a:lnTo>
                  <a:pt x="14288" y="751049"/>
                </a:lnTo>
                <a:lnTo>
                  <a:pt x="10716" y="745834"/>
                </a:lnTo>
                <a:lnTo>
                  <a:pt x="7144" y="739359"/>
                </a:lnTo>
                <a:lnTo>
                  <a:pt x="3572" y="730548"/>
                </a:lnTo>
                <a:lnTo>
                  <a:pt x="0" y="708293"/>
                </a:lnTo>
                <a:close/>
              </a:path>
            </a:pathLst>
          </a:custGeom>
          <a:solidFill>
            <a:srgbClr val="D4A84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570791" y="3735459"/>
            <a:ext cx="214664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80"/>
              </a:lnSpc>
              <a:buNone/>
            </a:pPr>
            <a:r>
              <a:rPr lang="en-US" sz="1580" b="1" dirty="0">
                <a:solidFill>
                  <a:srgbClr val="D4A843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4</a:t>
            </a:r>
            <a:endParaRPr lang="en-US" sz="1580" dirty="0"/>
          </a:p>
        </p:txBody>
      </p:sp>
      <p:sp>
        <p:nvSpPr>
          <p:cNvPr id="31" name="Text 25"/>
          <p:cNvSpPr/>
          <p:nvPr/>
        </p:nvSpPr>
        <p:spPr>
          <a:xfrm>
            <a:off x="599856" y="4117956"/>
            <a:ext cx="271760" cy="271760"/>
          </a:xfrm>
          <a:prstGeom prst="roundRect">
            <a:avLst>
              <a:gd name="adj" fmla="val 21030"/>
            </a:avLst>
          </a:prstGeom>
          <a:solidFill>
            <a:srgbClr val="D4A843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9368" y="4187467"/>
            <a:ext cx="132588" cy="13258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56725" y="3770137"/>
            <a:ext cx="3102813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300" b="1" dirty="0">
                <a:solidFill>
                  <a:srgbClr val="F0F4F8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Capitalize on E-Commerce Momentum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950136" y="4093168"/>
            <a:ext cx="2877154" cy="294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02"/>
              </a:lnSpc>
            </a:pPr>
            <a:r>
              <a:rPr lang="en-US" sz="1050" dirty="0"/>
              <a:t>Invest in infrastructure to support growing post-COVID demand.</a:t>
            </a:r>
          </a:p>
        </p:txBody>
      </p:sp>
      <p:sp>
        <p:nvSpPr>
          <p:cNvPr id="35" name="Text 28"/>
          <p:cNvSpPr/>
          <p:nvPr/>
        </p:nvSpPr>
        <p:spPr>
          <a:xfrm>
            <a:off x="5186769" y="3539697"/>
            <a:ext cx="3550295" cy="1029521"/>
          </a:xfrm>
          <a:prstGeom prst="roundRect">
            <a:avLst>
              <a:gd name="adj" fmla="val 9125"/>
            </a:avLst>
          </a:prstGeom>
          <a:solidFill>
            <a:srgbClr val="1E5155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6" name="Text 29"/>
          <p:cNvSpPr/>
          <p:nvPr/>
        </p:nvSpPr>
        <p:spPr>
          <a:xfrm>
            <a:off x="5184865" y="3539698"/>
            <a:ext cx="45719" cy="1029520"/>
          </a:xfrm>
          <a:custGeom>
            <a:avLst/>
            <a:gdLst/>
            <a:ahLst/>
            <a:cxnLst/>
            <a:rect l="l" t="t" r="r" b="b"/>
            <a:pathLst>
              <a:path w="28575" h="779413">
                <a:moveTo>
                  <a:pt x="0" y="71120"/>
                </a:moveTo>
                <a:lnTo>
                  <a:pt x="3572" y="48865"/>
                </a:lnTo>
                <a:lnTo>
                  <a:pt x="7144" y="40054"/>
                </a:lnTo>
                <a:lnTo>
                  <a:pt x="10716" y="33579"/>
                </a:lnTo>
                <a:lnTo>
                  <a:pt x="14288" y="28363"/>
                </a:lnTo>
                <a:lnTo>
                  <a:pt x="17859" y="23989"/>
                </a:lnTo>
                <a:lnTo>
                  <a:pt x="21431" y="20237"/>
                </a:lnTo>
                <a:lnTo>
                  <a:pt x="25003" y="16979"/>
                </a:lnTo>
                <a:lnTo>
                  <a:pt x="28575" y="14129"/>
                </a:lnTo>
                <a:lnTo>
                  <a:pt x="28575" y="765284"/>
                </a:lnTo>
                <a:lnTo>
                  <a:pt x="25003" y="762434"/>
                </a:lnTo>
                <a:lnTo>
                  <a:pt x="21431" y="759176"/>
                </a:lnTo>
                <a:lnTo>
                  <a:pt x="17859" y="755424"/>
                </a:lnTo>
                <a:lnTo>
                  <a:pt x="14288" y="751049"/>
                </a:lnTo>
                <a:lnTo>
                  <a:pt x="10716" y="745834"/>
                </a:lnTo>
                <a:lnTo>
                  <a:pt x="7144" y="739359"/>
                </a:lnTo>
                <a:lnTo>
                  <a:pt x="3572" y="730548"/>
                </a:lnTo>
                <a:lnTo>
                  <a:pt x="0" y="708293"/>
                </a:lnTo>
                <a:close/>
              </a:path>
            </a:pathLst>
          </a:custGeom>
          <a:solidFill>
            <a:srgbClr val="D4A84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7" name="Text 30"/>
          <p:cNvSpPr/>
          <p:nvPr/>
        </p:nvSpPr>
        <p:spPr>
          <a:xfrm>
            <a:off x="5347985" y="3631689"/>
            <a:ext cx="214664" cy="218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80"/>
              </a:lnSpc>
              <a:buNone/>
            </a:pPr>
            <a:r>
              <a:rPr lang="en-US" sz="1580" b="1" dirty="0">
                <a:solidFill>
                  <a:srgbClr val="D4A843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5</a:t>
            </a:r>
            <a:endParaRPr lang="en-US" sz="1580" dirty="0"/>
          </a:p>
        </p:txBody>
      </p:sp>
      <p:sp>
        <p:nvSpPr>
          <p:cNvPr id="38" name="Text 31"/>
          <p:cNvSpPr/>
          <p:nvPr/>
        </p:nvSpPr>
        <p:spPr>
          <a:xfrm>
            <a:off x="5372804" y="4057188"/>
            <a:ext cx="271760" cy="296211"/>
          </a:xfrm>
          <a:prstGeom prst="roundRect">
            <a:avLst>
              <a:gd name="adj" fmla="val 21030"/>
            </a:avLst>
          </a:prstGeom>
          <a:solidFill>
            <a:srgbClr val="D4A843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42316" y="4132953"/>
            <a:ext cx="132588" cy="144517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5571972" y="3693656"/>
            <a:ext cx="3102813" cy="165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300" b="1" dirty="0">
                <a:solidFill>
                  <a:srgbClr val="F0F4F8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Deepen Segment Analytics</a:t>
            </a:r>
            <a:endParaRPr lang="en-US" sz="1300" dirty="0"/>
          </a:p>
        </p:txBody>
      </p:sp>
      <p:sp>
        <p:nvSpPr>
          <p:cNvPr id="41" name="Text 33"/>
          <p:cNvSpPr/>
          <p:nvPr/>
        </p:nvSpPr>
        <p:spPr>
          <a:xfrm>
            <a:off x="5758864" y="4088719"/>
            <a:ext cx="2877154" cy="320560"/>
          </a:xfrm>
          <a:prstGeom prst="rect">
            <a:avLst/>
          </a:prstGeom>
          <a:solidFill>
            <a:srgbClr val="1E5155"/>
          </a:solidFill>
          <a:ln/>
        </p:spPr>
        <p:txBody>
          <a:bodyPr wrap="square" lIns="0" tIns="0" rIns="0" bIns="0" rtlCol="0" anchor="t"/>
          <a:lstStyle/>
          <a:p>
            <a:pPr>
              <a:lnSpc>
                <a:spcPts val="1102"/>
              </a:lnSpc>
            </a:pPr>
            <a:r>
              <a:rPr lang="en-US" sz="1050" dirty="0"/>
              <a:t>Monitor ISGR growth quarterly to detect changes early.</a:t>
            </a:r>
          </a:p>
        </p:txBody>
      </p:sp>
      <p:sp>
        <p:nvSpPr>
          <p:cNvPr id="46" name="Text 37"/>
          <p:cNvSpPr/>
          <p:nvPr/>
        </p:nvSpPr>
        <p:spPr>
          <a:xfrm>
            <a:off x="0" y="5114330"/>
            <a:ext cx="9144000" cy="29170"/>
          </a:xfrm>
          <a:prstGeom prst="rect">
            <a:avLst/>
          </a:prstGeom>
          <a:gradFill rotWithShape="1">
            <a:gsLst>
              <a:gs pos="0">
                <a:srgbClr val="D4A843"/>
              </a:gs>
              <a:gs pos="100000">
                <a:srgbClr val="D4A843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54" name="Text 13">
            <a:extLst>
              <a:ext uri="{FF2B5EF4-FFF2-40B4-BE49-F238E27FC236}">
                <a16:creationId xmlns:a16="http://schemas.microsoft.com/office/drawing/2014/main" id="{7D7052E3-2EDA-1C36-F009-04A412EA64F6}"/>
              </a:ext>
            </a:extLst>
          </p:cNvPr>
          <p:cNvSpPr/>
          <p:nvPr/>
        </p:nvSpPr>
        <p:spPr>
          <a:xfrm>
            <a:off x="684348" y="1317652"/>
            <a:ext cx="271760" cy="271760"/>
          </a:xfrm>
          <a:prstGeom prst="roundRect">
            <a:avLst>
              <a:gd name="adj" fmla="val 21030"/>
            </a:avLst>
          </a:prstGeom>
          <a:solidFill>
            <a:srgbClr val="D4A843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B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CAE1D4-F868-1771-932A-721192838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37">
            <a:extLst>
              <a:ext uri="{FF2B5EF4-FFF2-40B4-BE49-F238E27FC236}">
                <a16:creationId xmlns:a16="http://schemas.microsoft.com/office/drawing/2014/main" id="{285D09BB-07D9-BCE4-BD5B-B6E5654F13E6}"/>
              </a:ext>
            </a:extLst>
          </p:cNvPr>
          <p:cNvSpPr/>
          <p:nvPr/>
        </p:nvSpPr>
        <p:spPr>
          <a:xfrm>
            <a:off x="0" y="5114330"/>
            <a:ext cx="9144000" cy="29170"/>
          </a:xfrm>
          <a:prstGeom prst="rect">
            <a:avLst/>
          </a:prstGeom>
          <a:gradFill rotWithShape="1">
            <a:gsLst>
              <a:gs pos="0">
                <a:srgbClr val="D4A843"/>
              </a:gs>
              <a:gs pos="100000">
                <a:srgbClr val="D4A843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44" name="Text 5">
            <a:extLst>
              <a:ext uri="{FF2B5EF4-FFF2-40B4-BE49-F238E27FC236}">
                <a16:creationId xmlns:a16="http://schemas.microsoft.com/office/drawing/2014/main" id="{9B2B7A60-EA69-910F-D53E-B78110765F94}"/>
              </a:ext>
            </a:extLst>
          </p:cNvPr>
          <p:cNvSpPr/>
          <p:nvPr/>
        </p:nvSpPr>
        <p:spPr>
          <a:xfrm>
            <a:off x="2510687" y="2055268"/>
            <a:ext cx="4114800" cy="807541"/>
          </a:xfrm>
          <a:prstGeom prst="roundRect">
            <a:avLst>
              <a:gd name="adj" fmla="val 10694"/>
            </a:avLst>
          </a:prstGeom>
          <a:solidFill>
            <a:srgbClr val="1E5155"/>
          </a:solidFill>
          <a:ln w="9525">
            <a:solidFill>
              <a:srgbClr val="1E5155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C084A2F-63F5-6FB6-847B-ED6B84F455CE}"/>
              </a:ext>
            </a:extLst>
          </p:cNvPr>
          <p:cNvSpPr txBox="1"/>
          <p:nvPr/>
        </p:nvSpPr>
        <p:spPr>
          <a:xfrm>
            <a:off x="3055041" y="2091826"/>
            <a:ext cx="4572000" cy="10464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b="1" i="0" u="none" strike="noStrike" baseline="0" dirty="0">
                <a:solidFill>
                  <a:srgbClr val="FFFFFF"/>
                </a:solidFill>
                <a:latin typeface="Century Gothic"/>
              </a:rPr>
              <a:t>Thank You</a:t>
            </a:r>
            <a:r>
              <a:rPr sz="4400" b="0" i="0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​</a:t>
            </a:r>
            <a:endParaRPr lang="en-US" dirty="0"/>
          </a:p>
          <a:p>
            <a:pPr algn="ctr"/>
            <a:endParaRPr lang="en-US" dirty="0"/>
          </a:p>
        </p:txBody>
      </p:sp>
      <p:sp>
        <p:nvSpPr>
          <p:cNvPr id="53" name="Text 5">
            <a:extLst>
              <a:ext uri="{FF2B5EF4-FFF2-40B4-BE49-F238E27FC236}">
                <a16:creationId xmlns:a16="http://schemas.microsoft.com/office/drawing/2014/main" id="{A5F5D66E-DD95-028F-1E3A-939CAE14A081}"/>
              </a:ext>
            </a:extLst>
          </p:cNvPr>
          <p:cNvSpPr/>
          <p:nvPr/>
        </p:nvSpPr>
        <p:spPr>
          <a:xfrm>
            <a:off x="2488244" y="1986747"/>
            <a:ext cx="45719" cy="951018"/>
          </a:xfrm>
          <a:custGeom>
            <a:avLst/>
            <a:gdLst/>
            <a:ahLst/>
            <a:cxnLst/>
            <a:rect l="l" t="t" r="r" b="b"/>
            <a:pathLst>
              <a:path w="28575" h="850255">
                <a:moveTo>
                  <a:pt x="0" y="71120"/>
                </a:moveTo>
                <a:lnTo>
                  <a:pt x="3572" y="48865"/>
                </a:lnTo>
                <a:lnTo>
                  <a:pt x="7144" y="40054"/>
                </a:lnTo>
                <a:lnTo>
                  <a:pt x="10716" y="33579"/>
                </a:lnTo>
                <a:lnTo>
                  <a:pt x="14288" y="28363"/>
                </a:lnTo>
                <a:lnTo>
                  <a:pt x="17859" y="23989"/>
                </a:lnTo>
                <a:lnTo>
                  <a:pt x="21431" y="20237"/>
                </a:lnTo>
                <a:lnTo>
                  <a:pt x="25003" y="16979"/>
                </a:lnTo>
                <a:lnTo>
                  <a:pt x="28575" y="14129"/>
                </a:lnTo>
                <a:lnTo>
                  <a:pt x="28575" y="836126"/>
                </a:lnTo>
                <a:lnTo>
                  <a:pt x="25003" y="833276"/>
                </a:lnTo>
                <a:lnTo>
                  <a:pt x="21431" y="830018"/>
                </a:lnTo>
                <a:lnTo>
                  <a:pt x="17859" y="826266"/>
                </a:lnTo>
                <a:lnTo>
                  <a:pt x="14288" y="821892"/>
                </a:lnTo>
                <a:lnTo>
                  <a:pt x="10716" y="816677"/>
                </a:lnTo>
                <a:lnTo>
                  <a:pt x="7144" y="810201"/>
                </a:lnTo>
                <a:lnTo>
                  <a:pt x="3572" y="801391"/>
                </a:lnTo>
                <a:lnTo>
                  <a:pt x="0" y="779135"/>
                </a:lnTo>
                <a:close/>
              </a:path>
            </a:pathLst>
          </a:custGeom>
          <a:solidFill>
            <a:srgbClr val="D4A84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55" name="Text 5">
            <a:extLst>
              <a:ext uri="{FF2B5EF4-FFF2-40B4-BE49-F238E27FC236}">
                <a16:creationId xmlns:a16="http://schemas.microsoft.com/office/drawing/2014/main" id="{4DD0549F-66A3-3CE1-7EDA-EE18BDB059EE}"/>
              </a:ext>
            </a:extLst>
          </p:cNvPr>
          <p:cNvSpPr/>
          <p:nvPr/>
        </p:nvSpPr>
        <p:spPr>
          <a:xfrm rot="10800000">
            <a:off x="6582788" y="1986746"/>
            <a:ext cx="45719" cy="951018"/>
          </a:xfrm>
          <a:custGeom>
            <a:avLst/>
            <a:gdLst/>
            <a:ahLst/>
            <a:cxnLst/>
            <a:rect l="l" t="t" r="r" b="b"/>
            <a:pathLst>
              <a:path w="28575" h="850255">
                <a:moveTo>
                  <a:pt x="0" y="71120"/>
                </a:moveTo>
                <a:lnTo>
                  <a:pt x="3572" y="48865"/>
                </a:lnTo>
                <a:lnTo>
                  <a:pt x="7144" y="40054"/>
                </a:lnTo>
                <a:lnTo>
                  <a:pt x="10716" y="33579"/>
                </a:lnTo>
                <a:lnTo>
                  <a:pt x="14288" y="28363"/>
                </a:lnTo>
                <a:lnTo>
                  <a:pt x="17859" y="23989"/>
                </a:lnTo>
                <a:lnTo>
                  <a:pt x="21431" y="20237"/>
                </a:lnTo>
                <a:lnTo>
                  <a:pt x="25003" y="16979"/>
                </a:lnTo>
                <a:lnTo>
                  <a:pt x="28575" y="14129"/>
                </a:lnTo>
                <a:lnTo>
                  <a:pt x="28575" y="836126"/>
                </a:lnTo>
                <a:lnTo>
                  <a:pt x="25003" y="833276"/>
                </a:lnTo>
                <a:lnTo>
                  <a:pt x="21431" y="830018"/>
                </a:lnTo>
                <a:lnTo>
                  <a:pt x="17859" y="826266"/>
                </a:lnTo>
                <a:lnTo>
                  <a:pt x="14288" y="821892"/>
                </a:lnTo>
                <a:lnTo>
                  <a:pt x="10716" y="816677"/>
                </a:lnTo>
                <a:lnTo>
                  <a:pt x="7144" y="810201"/>
                </a:lnTo>
                <a:lnTo>
                  <a:pt x="3572" y="801391"/>
                </a:lnTo>
                <a:lnTo>
                  <a:pt x="0" y="779135"/>
                </a:lnTo>
                <a:close/>
              </a:path>
            </a:pathLst>
          </a:custGeom>
          <a:solidFill>
            <a:srgbClr val="D4A84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5606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D088F2BD0814E4CB92AB5A94261F233" ma:contentTypeVersion="6" ma:contentTypeDescription="Create a new document." ma:contentTypeScope="" ma:versionID="55ae011f07dbedae12b52ec00fa8f90b">
  <xsd:schema xmlns:xsd="http://www.w3.org/2001/XMLSchema" xmlns:xs="http://www.w3.org/2001/XMLSchema" xmlns:p="http://schemas.microsoft.com/office/2006/metadata/properties" xmlns:ns3="4102634a-15ea-4c3e-a486-dc00f7353270" targetNamespace="http://schemas.microsoft.com/office/2006/metadata/properties" ma:root="true" ma:fieldsID="93439319cc06680332f7ed8500d82f81" ns3:_="">
    <xsd:import namespace="4102634a-15ea-4c3e-a486-dc00f735327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02634a-15ea-4c3e-a486-dc00f735327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102634a-15ea-4c3e-a486-dc00f7353270" xsi:nil="true"/>
  </documentManagement>
</p:properties>
</file>

<file path=customXml/itemProps1.xml><?xml version="1.0" encoding="utf-8"?>
<ds:datastoreItem xmlns:ds="http://schemas.openxmlformats.org/officeDocument/2006/customXml" ds:itemID="{C8A018A3-16CD-4F95-820D-1B9DA16D6B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102634a-15ea-4c3e-a486-dc00f735327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5BD1745-2FB6-4495-B44A-D1A828E55FA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ECE9D9F-15E7-4D34-8F18-5332DEC23D87}">
  <ds:schemaRefs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4102634a-15ea-4c3e-a486-dc00f7353270"/>
    <ds:schemaRef ds:uri="http://purl.org/dc/elements/1.1/"/>
    <ds:schemaRef ds:uri="http://www.w3.org/XML/1998/namespace"/>
    <ds:schemaRef ds:uri="http://schemas.microsoft.com/office/infopath/2007/PartnerControl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297</TotalTime>
  <Words>1008</Words>
  <Application>Microsoft Office PowerPoint</Application>
  <PresentationFormat>On-screen Show (16:9)</PresentationFormat>
  <Paragraphs>208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Calibri</vt:lpstr>
      <vt:lpstr>Century Gothic</vt:lpstr>
      <vt:lpstr>Century Gothic (Body)</vt:lpstr>
      <vt:lpstr>Constantia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PptxGenJS Presentation</dc:subject>
  <dc:creator>Akash</dc:creator>
  <cp:lastModifiedBy>Bhuva, Kishan Dineshbhai</cp:lastModifiedBy>
  <cp:revision>6</cp:revision>
  <dcterms:created xsi:type="dcterms:W3CDTF">2026-04-11T06:35:28Z</dcterms:created>
  <dcterms:modified xsi:type="dcterms:W3CDTF">2026-04-22T21:24:28Z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0x0101009D088F2BD0814E4CB92AB5A94261F233</vt:lpwstr>
  </property>
</Properties>
</file>